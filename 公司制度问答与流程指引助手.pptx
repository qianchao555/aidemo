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36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1" Type="http://schemas.openxmlformats.org/officeDocument/2006/relationships/slideLayout" Target="../slideLayouts/slideLayout7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2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30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50.xml"/><Relationship Id="rId11" Type="http://schemas.openxmlformats.org/officeDocument/2006/relationships/tags" Target="../tags/tag49.xml"/><Relationship Id="rId10" Type="http://schemas.openxmlformats.org/officeDocument/2006/relationships/tags" Target="../tags/tag48.xml"/><Relationship Id="rId1" Type="http://schemas.openxmlformats.org/officeDocument/2006/relationships/tags" Target="../tags/tag3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B6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EB6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B6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2801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EB6750"/>
                </a:solidFill>
                <a:latin typeface="Arial" panose="020B0604020202020204"/>
              </a:defRPr>
            </a:pPr>
            <a:r>
              <a:t>AI-Powered Knowledge Base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82880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000" b="1">
                <a:solidFill>
                  <a:srgbClr val="FFFFFF"/>
                </a:solidFill>
                <a:latin typeface="Arial" panose="020B0604020202020204"/>
              </a:defRPr>
            </a:pPr>
            <a:r>
              <a:t>Company Policy</a:t>
            </a:r>
            <a:br/>
            <a:r>
              <a:t>Q&amp;A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316095"/>
            <a:ext cx="7207885" cy="44005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28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公司制度问答与流程指引助手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51915" y="4937759"/>
            <a:ext cx="1371600" cy="25400"/>
          </a:xfrm>
          <a:prstGeom prst="rect">
            <a:avLst/>
          </a:prstGeom>
          <a:solidFill>
            <a:srgbClr val="EB6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640080" y="868680"/>
            <a:ext cx="1097280" cy="25400"/>
          </a:xfrm>
          <a:prstGeom prst="rect">
            <a:avLst/>
          </a:prstGeom>
          <a:solidFill>
            <a:srgbClr val="EB6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1815" y="208280"/>
            <a:ext cx="10146665" cy="5219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2800"/>
              <a:t>Agenda</a:t>
            </a:r>
            <a:endParaRPr sz="2800"/>
          </a:p>
        </p:txBody>
      </p:sp>
      <p:sp>
        <p:nvSpPr>
          <p:cNvPr id="6" name="TextBox 5"/>
          <p:cNvSpPr txBox="1"/>
          <p:nvPr/>
        </p:nvSpPr>
        <p:spPr>
          <a:xfrm>
            <a:off x="273685" y="1562100"/>
            <a:ext cx="974725" cy="609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3400" b="1">
                <a:solidFill>
                  <a:srgbClr val="EB6750"/>
                </a:solidFill>
                <a:latin typeface="Arial" panose="020B0604020202020204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580388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项目背景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4708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使用场景 · 核心需求</a:t>
            </a:r>
          </a:p>
        </p:txBody>
      </p:sp>
      <p:sp>
        <p:nvSpPr>
          <p:cNvPr id="9" name="Rectangle 8"/>
          <p:cNvSpPr/>
          <p:nvPr/>
        </p:nvSpPr>
        <p:spPr>
          <a:xfrm>
            <a:off x="1234440" y="2156460"/>
            <a:ext cx="3200400" cy="635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9880" y="2430780"/>
            <a:ext cx="833120" cy="6140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EB6750"/>
                </a:solidFill>
                <a:latin typeface="Arial" panose="020B0604020202020204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49068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系统架构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723388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六层架构 · 技术选型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34440" y="3025140"/>
            <a:ext cx="3200400" cy="635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8450" y="3299460"/>
            <a:ext cx="844550" cy="6140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EB6750"/>
                </a:solidFill>
                <a:latin typeface="Arial" panose="020B0604020202020204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317748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文档入库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592068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解析 · 3 种结构切分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34440" y="3893820"/>
            <a:ext cx="3200400" cy="635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4485" y="4168140"/>
            <a:ext cx="818515" cy="6140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EB6750"/>
                </a:solidFill>
                <a:latin typeface="Arial" panose="020B0604020202020204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186427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RAG 检索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460748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混合检索 · RRF · 重排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34440" y="4762500"/>
            <a:ext cx="3200400" cy="635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3055" y="5036820"/>
            <a:ext cx="829945" cy="6140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EB6750"/>
                </a:solidFill>
                <a:latin typeface="Arial" panose="020B0604020202020204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055107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意图识别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5329428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6+1 分类 · Hook 链 · 闲聊检测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27395" y="1562100"/>
            <a:ext cx="802005" cy="6140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EB6750"/>
                </a:solidFill>
                <a:latin typeface="Arial" panose="020B0604020202020204"/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1580388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策略分离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1854708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Base Prompt + 动态注入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20840" y="2156460"/>
            <a:ext cx="3200400" cy="635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41365" y="2430780"/>
            <a:ext cx="788035" cy="6140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EB6750"/>
                </a:solidFill>
                <a:latin typeface="Arial" panose="020B0604020202020204"/>
              </a:defRPr>
            </a:pPr>
            <a: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2449068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2723388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ReAct 模式 · 最高优先级指令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20840" y="3025140"/>
            <a:ext cx="3200400" cy="635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68670" y="3299460"/>
            <a:ext cx="760730" cy="6140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EB6750"/>
                </a:solidFill>
                <a:latin typeface="Arial" panose="020B0604020202020204"/>
              </a:defRPr>
            </a:pPr>
            <a: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3317748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FAQ &amp; 质量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3592068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四级匹配 · 三层兜底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20840" y="3893820"/>
            <a:ext cx="3200400" cy="635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55335" y="4168140"/>
            <a:ext cx="774065" cy="6140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EB6750"/>
                </a:solidFill>
                <a:latin typeface="Arial" panose="020B0604020202020204"/>
              </a:defRPr>
            </a:pPr>
            <a:r>
              <a:t>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4186427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演示 &amp; 总结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4460748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问答走查 · 决策 · 路线图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640080" y="868680"/>
            <a:ext cx="1097280" cy="25400"/>
          </a:xfrm>
          <a:prstGeom prst="rect">
            <a:avLst/>
          </a:prstGeom>
          <a:solidFill>
            <a:srgbClr val="EB6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058400" cy="5219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2800"/>
              <a:t>六大使用场景</a:t>
            </a:r>
            <a:endParaRPr sz="2800"/>
          </a:p>
        </p:txBody>
      </p:sp>
      <p:sp>
        <p:nvSpPr>
          <p:cNvPr id="6" name="Rounded Rectangle 5"/>
          <p:cNvSpPr/>
          <p:nvPr/>
        </p:nvSpPr>
        <p:spPr>
          <a:xfrm>
            <a:off x="640080" y="1593850"/>
            <a:ext cx="3200400" cy="1645920"/>
          </a:xfrm>
          <a:prstGeom prst="roundRect">
            <a:avLst/>
          </a:prstGeom>
          <a:solidFill>
            <a:srgbClr val="FC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7673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B6750"/>
                </a:solidFill>
                <a:latin typeface="微软雅黑" panose="020B0503020204020204" charset="-122"/>
              </a:defRPr>
            </a:pPr>
            <a:r>
              <a:t>📋  制度问答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4249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"年假怎么计算？"</a:t>
            </a:r>
            <a:br/>
            <a:r>
              <a:t>检索条款 · 精准回答 · 标注出处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1593850"/>
            <a:ext cx="3200400" cy="1645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77673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🔄  流程指引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14249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"请假流程怎么走？"</a:t>
            </a:r>
            <a:br/>
            <a:r>
              <a:t>多轮分步引导 · 逐步讲解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1593850"/>
            <a:ext cx="3200400" cy="1645920"/>
          </a:xfrm>
          <a:prstGeom prst="round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177673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8A817"/>
                </a:solidFill>
                <a:latin typeface="微软雅黑" panose="020B0503020204020204" charset="-122"/>
              </a:defRPr>
            </a:pPr>
            <a:r>
              <a:t>💬  多轮追问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214249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"那试用期员工呢？"</a:t>
            </a:r>
            <a:br/>
            <a:r>
              <a:t>理解上下文 · 差异化回答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33800"/>
            <a:ext cx="3200400" cy="1645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9166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📖  定义与对比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28244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"什么是严重违纪？"</a:t>
            </a:r>
            <a:br/>
            <a:r>
              <a:t>"病假和年假的区别？"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0" y="3733800"/>
            <a:ext cx="3200400" cy="1645920"/>
          </a:xfrm>
          <a:prstGeom prst="round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39166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3366CC"/>
                </a:solidFill>
                <a:latin typeface="微软雅黑" panose="020B0503020204020204" charset="-122"/>
              </a:defRPr>
            </a:pPr>
            <a:r>
              <a:t>✅  范围确认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28244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"实习生能不能报销？"</a:t>
            </a:r>
            <a:br/>
            <a:r>
              <a:t>确认适用范围 · 引用条款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9520" y="3733800"/>
            <a:ext cx="3200400" cy="1645920"/>
          </a:xfrm>
          <a:prstGeom prst="round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18120" y="39166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0301E"/>
                </a:solidFill>
                <a:latin typeface="微软雅黑" panose="020B0503020204020204" charset="-122"/>
              </a:defRPr>
            </a:pPr>
            <a:r>
              <a:t>🛡️  兜底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428244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"公司有宠物保险吗？"</a:t>
            </a:r>
            <a:br/>
            <a:r>
              <a:t>无依据时诚实告知，不编造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640080" y="868680"/>
            <a:ext cx="1097280" cy="25400"/>
          </a:xfrm>
          <a:prstGeom prst="rect">
            <a:avLst/>
          </a:prstGeom>
          <a:solidFill>
            <a:srgbClr val="EB6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6730" y="284480"/>
            <a:ext cx="10058400" cy="5219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2800"/>
              <a:t>系统架构</a:t>
            </a:r>
            <a:endParaRPr sz="2800"/>
          </a:p>
        </p:txBody>
      </p:sp>
      <p:sp>
        <p:nvSpPr>
          <p:cNvPr id="6" name="Rounded Rectangle 5"/>
          <p:cNvSpPr/>
          <p:nvPr/>
        </p:nvSpPr>
        <p:spPr>
          <a:xfrm>
            <a:off x="622300" y="1581150"/>
            <a:ext cx="1005840" cy="502920"/>
          </a:xfrm>
          <a:prstGeom prst="roundRect">
            <a:avLst/>
          </a:prstGeom>
          <a:solidFill>
            <a:srgbClr val="EB6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2300" y="1581150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 panose="020B0604020202020204"/>
              </a:defRPr>
            </a:pPr>
            <a:r>
              <a:t>接入层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66700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REST API · SSE 流式</a:t>
            </a:r>
          </a:p>
        </p:txBody>
      </p:sp>
      <p:sp>
        <p:nvSpPr>
          <p:cNvPr id="9" name="TextBox 8"/>
          <p:cNvSpPr txBox="1"/>
          <p:nvPr>
            <p:custDataLst>
              <p:tags r:id="rId1"/>
            </p:custDataLst>
          </p:nvPr>
        </p:nvSpPr>
        <p:spPr>
          <a:xfrm>
            <a:off x="896620" y="208407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EB6750"/>
                </a:solidFill>
                <a:latin typeface="微软雅黑" panose="020B0503020204020204" charset="-122"/>
              </a:defRPr>
            </a:pPr>
            <a:r>
              <a:t>▼</a:t>
            </a:r>
          </a:p>
        </p:txBody>
      </p:sp>
      <p:sp>
        <p:nvSpPr>
          <p:cNvPr id="10" name="Rounded Rectangle 9"/>
          <p:cNvSpPr/>
          <p:nvPr>
            <p:custDataLst>
              <p:tags r:id="rId2"/>
            </p:custDataLst>
          </p:nvPr>
        </p:nvSpPr>
        <p:spPr>
          <a:xfrm>
            <a:off x="622300" y="2294382"/>
            <a:ext cx="1005840" cy="502920"/>
          </a:xfrm>
          <a:prstGeom prst="roundRect">
            <a:avLst/>
          </a:prstGeom>
          <a:solidFill>
            <a:srgbClr val="E07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3"/>
            </p:custDataLst>
          </p:nvPr>
        </p:nvSpPr>
        <p:spPr>
          <a:xfrm>
            <a:off x="622300" y="2294382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 panose="020B0604020202020204"/>
              </a:defRPr>
            </a:pPr>
            <a:r>
              <a:t>Hook 层</a:t>
            </a:r>
          </a:p>
        </p:txBody>
      </p:sp>
      <p:sp>
        <p:nvSpPr>
          <p:cNvPr id="12" name="TextBox 11"/>
          <p:cNvSpPr txBox="1"/>
          <p:nvPr>
            <p:custDataLst>
              <p:tags r:id="rId4"/>
            </p:custDataLst>
          </p:nvPr>
        </p:nvSpPr>
        <p:spPr>
          <a:xfrm>
            <a:off x="2103120" y="2380234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FAQ → 闲聊 → 意图 → 策略</a:t>
            </a:r>
          </a:p>
        </p:txBody>
      </p:sp>
      <p:sp>
        <p:nvSpPr>
          <p:cNvPr id="13" name="TextBox 12"/>
          <p:cNvSpPr txBox="1"/>
          <p:nvPr>
            <p:custDataLst>
              <p:tags r:id="rId5"/>
            </p:custDataLst>
          </p:nvPr>
        </p:nvSpPr>
        <p:spPr>
          <a:xfrm>
            <a:off x="896620" y="279730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EB6750"/>
                </a:solidFill>
                <a:latin typeface="微软雅黑" panose="020B0503020204020204" charset="-122"/>
              </a:defRPr>
            </a:pPr>
            <a:r>
              <a:t>▼</a:t>
            </a:r>
          </a:p>
        </p:txBody>
      </p:sp>
      <p:sp>
        <p:nvSpPr>
          <p:cNvPr id="14" name="Rounded Rectangle 13"/>
          <p:cNvSpPr/>
          <p:nvPr>
            <p:custDataLst>
              <p:tags r:id="rId6"/>
            </p:custDataLst>
          </p:nvPr>
        </p:nvSpPr>
        <p:spPr>
          <a:xfrm>
            <a:off x="622300" y="3007614"/>
            <a:ext cx="1005840" cy="50292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7"/>
            </p:custDataLst>
          </p:nvPr>
        </p:nvSpPr>
        <p:spPr>
          <a:xfrm>
            <a:off x="622300" y="3007614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 panose="020B0604020202020204"/>
              </a:defRPr>
            </a:pPr>
            <a:r>
              <a:t>Agent</a:t>
            </a:r>
          </a:p>
        </p:txBody>
      </p:sp>
      <p:sp>
        <p:nvSpPr>
          <p:cNvPr id="16" name="TextBox 15"/>
          <p:cNvSpPr txBox="1"/>
          <p:nvPr>
            <p:custDataLst>
              <p:tags r:id="rId8"/>
            </p:custDataLst>
          </p:nvPr>
        </p:nvSpPr>
        <p:spPr>
          <a:xfrm>
            <a:off x="2103120" y="3093466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ReAct · Prompt · 对话历史</a:t>
            </a:r>
          </a:p>
        </p:txBody>
      </p:sp>
      <p:sp>
        <p:nvSpPr>
          <p:cNvPr id="17" name="TextBox 16"/>
          <p:cNvSpPr txBox="1"/>
          <p:nvPr>
            <p:custDataLst>
              <p:tags r:id="rId9"/>
            </p:custDataLst>
          </p:nvPr>
        </p:nvSpPr>
        <p:spPr>
          <a:xfrm>
            <a:off x="896620" y="3510534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EB6750"/>
                </a:solidFill>
                <a:latin typeface="微软雅黑" panose="020B0503020204020204" charset="-122"/>
              </a:defRPr>
            </a:pPr>
            <a:r>
              <a:t>▼</a:t>
            </a:r>
          </a:p>
        </p:txBody>
      </p:sp>
      <p:sp>
        <p:nvSpPr>
          <p:cNvPr id="18" name="Rounded Rectangle 17"/>
          <p:cNvSpPr/>
          <p:nvPr>
            <p:custDataLst>
              <p:tags r:id="rId10"/>
            </p:custDataLst>
          </p:nvPr>
        </p:nvSpPr>
        <p:spPr>
          <a:xfrm>
            <a:off x="622300" y="3720846"/>
            <a:ext cx="1005840" cy="502920"/>
          </a:xfrm>
          <a:prstGeom prst="round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>
            <p:custDataLst>
              <p:tags r:id="rId11"/>
            </p:custDataLst>
          </p:nvPr>
        </p:nvSpPr>
        <p:spPr>
          <a:xfrm>
            <a:off x="622300" y="3720846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 panose="020B0604020202020204"/>
              </a:defRPr>
            </a:pPr>
            <a:r>
              <a:t>工具</a:t>
            </a:r>
          </a:p>
        </p:txBody>
      </p:sp>
      <p:sp>
        <p:nvSpPr>
          <p:cNvPr id="20" name="TextBox 19"/>
          <p:cNvSpPr txBox="1"/>
          <p:nvPr>
            <p:custDataLst>
              <p:tags r:id="rId12"/>
            </p:custDataLst>
          </p:nvPr>
        </p:nvSpPr>
        <p:spPr>
          <a:xfrm>
            <a:off x="2103120" y="380669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searchKnowledge</a:t>
            </a:r>
          </a:p>
        </p:txBody>
      </p:sp>
      <p:sp>
        <p:nvSpPr>
          <p:cNvPr id="21" name="TextBox 20"/>
          <p:cNvSpPr txBox="1"/>
          <p:nvPr>
            <p:custDataLst>
              <p:tags r:id="rId13"/>
            </p:custDataLst>
          </p:nvPr>
        </p:nvSpPr>
        <p:spPr>
          <a:xfrm>
            <a:off x="896620" y="4223766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EB6750"/>
                </a:solidFill>
                <a:latin typeface="微软雅黑" panose="020B0503020204020204" charset="-122"/>
              </a:defRPr>
            </a:pPr>
            <a:r>
              <a:t>▼</a:t>
            </a:r>
          </a:p>
        </p:txBody>
      </p:sp>
      <p:sp>
        <p:nvSpPr>
          <p:cNvPr id="22" name="Rounded Rectangle 21"/>
          <p:cNvSpPr/>
          <p:nvPr>
            <p:custDataLst>
              <p:tags r:id="rId14"/>
            </p:custDataLst>
          </p:nvPr>
        </p:nvSpPr>
        <p:spPr>
          <a:xfrm>
            <a:off x="622300" y="4434078"/>
            <a:ext cx="1005840" cy="502920"/>
          </a:xfrm>
          <a:prstGeom prst="roundRect">
            <a:avLst/>
          </a:prstGeom>
          <a:solidFill>
            <a:srgbClr val="D45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>
            <p:custDataLst>
              <p:tags r:id="rId15"/>
            </p:custDataLst>
          </p:nvPr>
        </p:nvSpPr>
        <p:spPr>
          <a:xfrm>
            <a:off x="622300" y="4434078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 panose="020B0604020202020204"/>
              </a:defRPr>
            </a:pPr>
            <a:r>
              <a:t>检索</a:t>
            </a:r>
          </a:p>
        </p:txBody>
      </p:sp>
      <p:sp>
        <p:nvSpPr>
          <p:cNvPr id="24" name="TextBox 23"/>
          <p:cNvSpPr txBox="1"/>
          <p:nvPr>
            <p:custDataLst>
              <p:tags r:id="rId16"/>
            </p:custDataLst>
          </p:nvPr>
        </p:nvSpPr>
        <p:spPr>
          <a:xfrm>
            <a:off x="2103120" y="4519930"/>
            <a:ext cx="3200400" cy="2603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向量 + 关键词 → RRF</a:t>
            </a:r>
            <a:r>
              <a:rPr lang="en-US"/>
              <a:t>(</a:t>
            </a:r>
            <a:r>
              <a:rPr lang="zh-CN" altLang="en-US"/>
              <a:t>排序融合</a:t>
            </a:r>
            <a:r>
              <a:rPr lang="en-US" altLang="zh-CN"/>
              <a:t>)</a:t>
            </a:r>
            <a:endParaRPr lang="en-US" altLang="zh-CN"/>
          </a:p>
        </p:txBody>
      </p:sp>
      <p:sp>
        <p:nvSpPr>
          <p:cNvPr id="25" name="TextBox 24"/>
          <p:cNvSpPr txBox="1"/>
          <p:nvPr>
            <p:custDataLst>
              <p:tags r:id="rId17"/>
            </p:custDataLst>
          </p:nvPr>
        </p:nvSpPr>
        <p:spPr>
          <a:xfrm>
            <a:off x="896620" y="4936998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EB6750"/>
                </a:solidFill>
                <a:latin typeface="微软雅黑" panose="020B0503020204020204" charset="-122"/>
              </a:defRPr>
            </a:pPr>
            <a:r>
              <a:t>▼</a:t>
            </a:r>
          </a:p>
        </p:txBody>
      </p:sp>
      <p:sp>
        <p:nvSpPr>
          <p:cNvPr id="26" name="Rounded Rectangle 25"/>
          <p:cNvSpPr/>
          <p:nvPr>
            <p:custDataLst>
              <p:tags r:id="rId18"/>
            </p:custDataLst>
          </p:nvPr>
        </p:nvSpPr>
        <p:spPr>
          <a:xfrm>
            <a:off x="622300" y="5147310"/>
            <a:ext cx="1005840" cy="502920"/>
          </a:xfrm>
          <a:prstGeom prst="roundRect">
            <a:avLst/>
          </a:prstGeom>
          <a:solidFill>
            <a:srgbClr val="A85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>
            <p:custDataLst>
              <p:tags r:id="rId19"/>
            </p:custDataLst>
          </p:nvPr>
        </p:nvSpPr>
        <p:spPr>
          <a:xfrm>
            <a:off x="622300" y="5147310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 panose="020B0604020202020204"/>
              </a:defRPr>
            </a:pPr>
            <a:r>
              <a:t>数据</a:t>
            </a:r>
          </a:p>
        </p:txBody>
      </p:sp>
      <p:sp>
        <p:nvSpPr>
          <p:cNvPr id="28" name="TextBox 27"/>
          <p:cNvSpPr txBox="1"/>
          <p:nvPr>
            <p:custDataLst>
              <p:tags r:id="rId20"/>
            </p:custDataLst>
          </p:nvPr>
        </p:nvSpPr>
        <p:spPr>
          <a:xfrm>
            <a:off x="2103120" y="523316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PG + pgvector + FAQ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0" y="1485900"/>
            <a:ext cx="5303520" cy="13258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72200" y="166878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策略分离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2034540"/>
            <a:ext cx="4846320" cy="502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Base Prompt (~40行)</a:t>
            </a:r>
            <a:br/>
            <a:r>
              <a:t>+ Hook 动态注入 1 条策略</a:t>
            </a:r>
            <a:br/>
            <a:r>
              <a:t>→ 节省 60% token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0" y="3040380"/>
            <a:ext cx="5303520" cy="13258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22326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标注式路由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200" y="3589020"/>
            <a:ext cx="4846320" cy="502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Hook 标注 (确定规则)</a:t>
            </a:r>
            <a:br/>
            <a:r>
              <a:t>+ LLM 决策 (不确定推理)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0" y="4594860"/>
            <a:ext cx="5303520" cy="13258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72200" y="477774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安全兜底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5143500"/>
            <a:ext cx="4846320" cy="502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质量不达标 → 最高优先级指令</a:t>
            </a:r>
            <a:br/>
            <a:r>
              <a:t>→ 100% 防编造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640080" y="868680"/>
            <a:ext cx="1097280" cy="25400"/>
          </a:xfrm>
          <a:prstGeom prst="rect">
            <a:avLst/>
          </a:prstGeom>
          <a:solidFill>
            <a:srgbClr val="EB6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8480" y="344170"/>
            <a:ext cx="10058400" cy="5219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2800"/>
              <a:t>文档入库</a:t>
            </a:r>
            <a:endParaRPr sz="2800"/>
          </a:p>
        </p:txBody>
      </p:sp>
      <p:sp>
        <p:nvSpPr>
          <p:cNvPr id="6" name="Rounded Rectangle 5"/>
          <p:cNvSpPr/>
          <p:nvPr/>
        </p:nvSpPr>
        <p:spPr>
          <a:xfrm>
            <a:off x="731520" y="1757680"/>
            <a:ext cx="1828800" cy="960120"/>
          </a:xfrm>
          <a:prstGeom prst="roundRect">
            <a:avLst/>
          </a:prstGeom>
          <a:solidFill>
            <a:srgbClr val="EB6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57680"/>
            <a:ext cx="18288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📄</a:t>
            </a:r>
            <a:br/>
            <a:r>
              <a:t>上传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894840"/>
            <a:ext cx="274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EB6750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1757680"/>
            <a:ext cx="1828800" cy="960120"/>
          </a:xfrm>
          <a:prstGeom prst="roundRect">
            <a:avLst/>
          </a:prstGeom>
          <a:solidFill>
            <a:srgbClr val="D45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1757680"/>
            <a:ext cx="18288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🔧</a:t>
            </a:r>
            <a:br/>
            <a:r>
              <a:t>解析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894840"/>
            <a:ext cx="274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EB6750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1757680"/>
            <a:ext cx="1828800" cy="960120"/>
          </a:xfrm>
          <a:prstGeom prst="roundRect">
            <a:avLst/>
          </a:prstGeom>
          <a:solidFill>
            <a:srgbClr val="A85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1757680"/>
            <a:ext cx="18288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✂️</a:t>
            </a:r>
            <a:br/>
            <a:r>
              <a:t>切分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1894840"/>
            <a:ext cx="274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EB6750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1757680"/>
            <a:ext cx="1828800" cy="96012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1757680"/>
            <a:ext cx="18288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🧮</a:t>
            </a:r>
            <a:br/>
            <a:r>
              <a:t>向量化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1894840"/>
            <a:ext cx="274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EB6750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75520" y="1757680"/>
            <a:ext cx="1828800" cy="960120"/>
          </a:xfrm>
          <a:prstGeom prst="round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0" y="1757680"/>
            <a:ext cx="18288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💾</a:t>
            </a:r>
            <a:br/>
            <a:r>
              <a:t>入库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280924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按格式路由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280924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结构感知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280924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1536 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280924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pgvector HNSW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749039"/>
            <a:ext cx="3200400" cy="1463040"/>
          </a:xfrm>
          <a:prstGeom prst="roundRect">
            <a:avLst/>
          </a:prstGeom>
          <a:solidFill>
            <a:srgbClr val="FC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39319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B6750"/>
                </a:solidFill>
                <a:latin typeface="微软雅黑" panose="020B0503020204020204" charset="-122"/>
              </a:defRPr>
            </a:pPr>
            <a:r>
              <a:t>HeadingChunker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297679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制度文档 · 按标题层级</a:t>
            </a:r>
            <a:br/>
            <a:r>
              <a:t>第X章 → 第X条 → 第X节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0" y="3749039"/>
            <a:ext cx="3200400" cy="1463040"/>
          </a:xfrm>
          <a:prstGeom prst="round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43400" y="39319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8A817"/>
                </a:solidFill>
                <a:latin typeface="微软雅黑" panose="020B0503020204020204" charset="-122"/>
              </a:defRPr>
            </a:pPr>
            <a:r>
              <a:t>ProcessChunker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4297679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流程文档 · 按步骤标记</a:t>
            </a:r>
            <a:br/>
            <a:r>
              <a:t>第①步 · 第②步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89520" y="3749039"/>
            <a:ext cx="3200400" cy="1463040"/>
          </a:xfrm>
          <a:prstGeom prst="round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18120" y="39319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3366CC"/>
                </a:solidFill>
                <a:latin typeface="微软雅黑" panose="020B0503020204020204" charset="-122"/>
              </a:defRPr>
            </a:pPr>
            <a:r>
              <a:t>FaqChunker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8120" y="4297679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FAQ 文档 · 按 QA 对</a:t>
            </a:r>
            <a:br/>
            <a:r>
              <a:t>Q: …  →  A: 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640080" y="868680"/>
            <a:ext cx="1097280" cy="25400"/>
          </a:xfrm>
          <a:prstGeom prst="rect">
            <a:avLst/>
          </a:prstGeom>
          <a:solidFill>
            <a:srgbClr val="EB6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8480" y="344170"/>
            <a:ext cx="10058400" cy="5219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2800"/>
              <a:t>RAG 检索管线</a:t>
            </a:r>
            <a:endParaRPr sz="2800"/>
          </a:p>
        </p:txBody>
      </p:sp>
      <p:sp>
        <p:nvSpPr>
          <p:cNvPr id="6" name="Rounded Rectangle 5"/>
          <p:cNvSpPr/>
          <p:nvPr/>
        </p:nvSpPr>
        <p:spPr>
          <a:xfrm>
            <a:off x="457200" y="1744980"/>
            <a:ext cx="1554480" cy="960120"/>
          </a:xfrm>
          <a:prstGeom prst="roundRect">
            <a:avLst/>
          </a:prstGeom>
          <a:solidFill>
            <a:srgbClr val="EB6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44980"/>
            <a:ext cx="15544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👤</a:t>
            </a:r>
            <a:br/>
            <a:r>
              <a:t>提问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882140"/>
            <a:ext cx="274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EB6750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7440" y="1744980"/>
            <a:ext cx="1554480" cy="960120"/>
          </a:xfrm>
          <a:prstGeom prst="roundRect">
            <a:avLst/>
          </a:prstGeom>
          <a:solidFill>
            <a:srgbClr val="D45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1744980"/>
            <a:ext cx="15544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🎯</a:t>
            </a:r>
            <a:br/>
            <a:r>
              <a:t>路由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882140"/>
            <a:ext cx="274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EB6750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744980"/>
            <a:ext cx="1554480" cy="96012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744980"/>
            <a:ext cx="15544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🔍</a:t>
            </a:r>
            <a:br/>
            <a:r>
              <a:t>混合检索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1882140"/>
            <a:ext cx="274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EB6750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744980"/>
            <a:ext cx="1554480" cy="960120"/>
          </a:xfrm>
          <a:prstGeom prst="roundRect">
            <a:avLst/>
          </a:prstGeom>
          <a:solidFill>
            <a:srgbClr val="D45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744980"/>
            <a:ext cx="15544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🔀</a:t>
            </a:r>
            <a:br/>
            <a:r>
              <a:t>RRF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1882140"/>
            <a:ext cx="274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EB6750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744980"/>
            <a:ext cx="1554480" cy="960120"/>
          </a:xfrm>
          <a:prstGeom prst="roundRect">
            <a:avLst/>
          </a:prstGeom>
          <a:solidFill>
            <a:srgbClr val="A85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1744980"/>
            <a:ext cx="15544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⭐</a:t>
            </a:r>
            <a:br/>
            <a:r>
              <a:t>重排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1882140"/>
            <a:ext cx="274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EB6750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0" y="1744980"/>
            <a:ext cx="1554480" cy="960120"/>
          </a:xfrm>
          <a:prstGeom prst="roundRect">
            <a:avLst/>
          </a:prstGeom>
          <a:solidFill>
            <a:srgbClr val="1B8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0" y="1744980"/>
            <a:ext cx="15544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💬</a:t>
            </a:r>
            <a:br/>
            <a:r>
              <a:t>回答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71600" y="3139440"/>
            <a:ext cx="9418320" cy="7315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0" y="3139440"/>
            <a:ext cx="94183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2D2D2D"/>
                </a:solidFill>
                <a:latin typeface="Arial" panose="020B0604020202020204"/>
              </a:defRPr>
            </a:pPr>
            <a:r>
              <a:t>score(d) = 1/(60 + rankv) + 1/(60 + rankk)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069080"/>
            <a:ext cx="9418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RRF 融合 · 仅考虑排序位置 · 无需分数归一化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480560"/>
            <a:ext cx="3200400" cy="1371600"/>
          </a:xfrm>
          <a:prstGeom prst="roundRect">
            <a:avLst/>
          </a:prstGeom>
          <a:solidFill>
            <a:srgbClr val="FC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6634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B6750"/>
                </a:solidFill>
                <a:latin typeface="微软雅黑" panose="020B0503020204020204" charset="-122"/>
              </a:defRPr>
            </a:pPr>
            <a:r>
              <a:t>向量检索 pgvector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02920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HNSW 索引 · COSINE · 1536 维</a:t>
            </a:r>
            <a:br/>
            <a:r>
              <a:t>擅长语义相似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0" y="4480560"/>
            <a:ext cx="3200400" cy="1371600"/>
          </a:xfrm>
          <a:prstGeom prst="round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43400" y="46634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8A817"/>
                </a:solidFill>
                <a:latin typeface="微软雅黑" panose="020B0503020204020204" charset="-122"/>
              </a:defRPr>
            </a:pPr>
            <a:r>
              <a:t>关键词检索 pg_trgm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43400" y="502920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三元组 · GIN 索引</a:t>
            </a:r>
            <a:br/>
            <a:r>
              <a:t>擅长精确匹配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89520" y="4480560"/>
            <a:ext cx="3200400" cy="1371600"/>
          </a:xfrm>
          <a:prstGeom prst="round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18120" y="46634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3366CC"/>
                </a:solidFill>
                <a:latin typeface="微软雅黑" panose="020B0503020204020204" charset="-122"/>
              </a:defRPr>
            </a:pPr>
            <a:r>
              <a:t>后处理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8120" y="502920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LLM 重排 Top-3 · 结构去重</a:t>
            </a:r>
            <a:br/>
            <a:r>
              <a:t>截断 500 字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640080" y="868680"/>
            <a:ext cx="1097280" cy="25400"/>
          </a:xfrm>
          <a:prstGeom prst="rect">
            <a:avLst/>
          </a:prstGeom>
          <a:solidFill>
            <a:srgbClr val="EB6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9430" y="356870"/>
            <a:ext cx="10058400" cy="5219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2800"/>
              <a:t>意图识别</a:t>
            </a:r>
            <a:endParaRPr sz="2800"/>
          </a:p>
        </p:txBody>
      </p:sp>
      <p:sp>
        <p:nvSpPr>
          <p:cNvPr id="6" name="Rounded Rectangle 5"/>
          <p:cNvSpPr/>
          <p:nvPr/>
        </p:nvSpPr>
        <p:spPr>
          <a:xfrm>
            <a:off x="640080" y="1532890"/>
            <a:ext cx="1463040" cy="402336"/>
          </a:xfrm>
          <a:prstGeom prst="roundRect">
            <a:avLst/>
          </a:prstGeom>
          <a:solidFill>
            <a:srgbClr val="EB6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87754"/>
            <a:ext cx="11887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意图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1532890"/>
            <a:ext cx="3017520" cy="402336"/>
          </a:xfrm>
          <a:prstGeom prst="roundRect">
            <a:avLst/>
          </a:prstGeom>
          <a:solidFill>
            <a:srgbClr val="EB6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40279" y="1587754"/>
            <a:ext cx="2743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匹配模式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1532890"/>
            <a:ext cx="2286000" cy="402336"/>
          </a:xfrm>
          <a:prstGeom prst="roundRect">
            <a:avLst/>
          </a:prstGeom>
          <a:solidFill>
            <a:srgbClr val="EB6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800" y="1587754"/>
            <a:ext cx="20116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策略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532890"/>
            <a:ext cx="2743200" cy="402336"/>
          </a:xfrm>
          <a:prstGeom prst="roundRect">
            <a:avLst/>
          </a:prstGeom>
          <a:solidFill>
            <a:srgbClr val="EB6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1587754"/>
            <a:ext cx="2468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示例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008378"/>
            <a:ext cx="1463040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063242"/>
            <a:ext cx="11887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EB6750"/>
                </a:solidFill>
                <a:latin typeface="微软雅黑" panose="020B0503020204020204" charset="-122"/>
              </a:defRPr>
            </a:pPr>
            <a:r>
              <a:t>流程指引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03120" y="2008378"/>
            <a:ext cx="3017520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40279" y="2063242"/>
            <a:ext cx="2743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怎么/如何/怎样 + 申请/办理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2008378"/>
            <a:ext cx="2286000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57800" y="2063242"/>
            <a:ext cx="20116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EB6750"/>
                </a:solidFill>
                <a:latin typeface="微软雅黑" panose="020B0503020204020204" charset="-122"/>
              </a:defRPr>
            </a:pPr>
            <a:r>
              <a:t>分步引导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2008378"/>
            <a:ext cx="2743200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43800" y="2063242"/>
            <a:ext cx="2468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"请假流程怎么走？"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2483866"/>
            <a:ext cx="1463040" cy="402336"/>
          </a:xfrm>
          <a:prstGeom prst="roundRect">
            <a:avLst/>
          </a:prstGeom>
          <a:solidFill>
            <a:srgbClr val="FC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538730"/>
            <a:ext cx="11887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EB6750"/>
                </a:solidFill>
                <a:latin typeface="微软雅黑" panose="020B0503020204020204" charset="-122"/>
              </a:defRPr>
            </a:pPr>
            <a:r>
              <a:t>制度问答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03120" y="2483866"/>
            <a:ext cx="3017520" cy="402336"/>
          </a:xfrm>
          <a:prstGeom prst="roundRect">
            <a:avLst/>
          </a:prstGeom>
          <a:solidFill>
            <a:srgbClr val="FC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40279" y="2538730"/>
            <a:ext cx="2743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制度/规定/条例 + 第X条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20640" y="2483866"/>
            <a:ext cx="2286000" cy="402336"/>
          </a:xfrm>
          <a:prstGeom prst="roundRect">
            <a:avLst/>
          </a:prstGeom>
          <a:solidFill>
            <a:srgbClr val="FC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57800" y="2538730"/>
            <a:ext cx="20116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EB6750"/>
                </a:solidFill>
                <a:latin typeface="微软雅黑" panose="020B0503020204020204" charset="-122"/>
              </a:defRPr>
            </a:pPr>
            <a:r>
              <a:t>精准回答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06640" y="2483866"/>
            <a:ext cx="2743200" cy="402336"/>
          </a:xfrm>
          <a:prstGeom prst="roundRect">
            <a:avLst/>
          </a:prstGeom>
          <a:solidFill>
            <a:srgbClr val="FC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43800" y="2538730"/>
            <a:ext cx="2468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"年假制度第几条？"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2959354"/>
            <a:ext cx="1463040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3014218"/>
            <a:ext cx="11887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EB6750"/>
                </a:solidFill>
                <a:latin typeface="微软雅黑" panose="020B0503020204020204" charset="-122"/>
              </a:defRPr>
            </a:pPr>
            <a:r>
              <a:t>定义查询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03120" y="2959354"/>
            <a:ext cx="3017520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40279" y="3014218"/>
            <a:ext cx="2743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什么是/含义/概念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20640" y="2959354"/>
            <a:ext cx="2286000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57800" y="3014218"/>
            <a:ext cx="20116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EB6750"/>
                </a:solidFill>
                <a:latin typeface="微软雅黑" panose="020B0503020204020204" charset="-122"/>
              </a:defRPr>
            </a:pPr>
            <a:r>
              <a:t>精准回答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06640" y="2959354"/>
            <a:ext cx="2743200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43800" y="3014218"/>
            <a:ext cx="2468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"什么是严重违纪？"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3434841"/>
            <a:ext cx="1463040" cy="402336"/>
          </a:xfrm>
          <a:prstGeom prst="roundRect">
            <a:avLst/>
          </a:prstGeom>
          <a:solidFill>
            <a:srgbClr val="FC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3489705"/>
            <a:ext cx="11887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EB6750"/>
                </a:solidFill>
                <a:latin typeface="微软雅黑" panose="020B0503020204020204" charset="-122"/>
              </a:defRPr>
            </a:pPr>
            <a:r>
              <a:t>对比/范围/违规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103120" y="3434841"/>
            <a:ext cx="3017520" cy="402336"/>
          </a:xfrm>
          <a:prstGeom prst="roundRect">
            <a:avLst/>
          </a:prstGeom>
          <a:solidFill>
            <a:srgbClr val="FC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40279" y="3489705"/>
            <a:ext cx="2743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区别/能不能/违反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120640" y="3434841"/>
            <a:ext cx="2286000" cy="402336"/>
          </a:xfrm>
          <a:prstGeom prst="roundRect">
            <a:avLst/>
          </a:prstGeom>
          <a:solidFill>
            <a:srgbClr val="FC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57800" y="3489705"/>
            <a:ext cx="20116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EB6750"/>
                </a:solidFill>
                <a:latin typeface="微软雅黑" panose="020B0503020204020204" charset="-122"/>
              </a:defRPr>
            </a:pPr>
            <a:r>
              <a:t>精准回答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06640" y="3434841"/>
            <a:ext cx="2743200" cy="402336"/>
          </a:xfrm>
          <a:prstGeom prst="roundRect">
            <a:avLst/>
          </a:prstGeom>
          <a:solidFill>
            <a:srgbClr val="FC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43800" y="3489705"/>
            <a:ext cx="2468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"病假和年假的区别？"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" y="3910330"/>
            <a:ext cx="1463040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" y="3965194"/>
            <a:ext cx="11887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EB6750"/>
                </a:solidFill>
                <a:latin typeface="微软雅黑" panose="020B0503020204020204" charset="-122"/>
              </a:defRPr>
            </a:pPr>
            <a:r>
              <a:t>兜底检索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103120" y="3910330"/>
            <a:ext cx="3017520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240279" y="3965194"/>
            <a:ext cx="2743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正则未命中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120640" y="3910330"/>
            <a:ext cx="2286000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257800" y="3965194"/>
            <a:ext cx="20116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EB6750"/>
                </a:solidFill>
                <a:latin typeface="微软雅黑" panose="020B0503020204020204" charset="-122"/>
              </a:defRPr>
            </a:pPr>
            <a:r>
              <a:t>兜底检索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406640" y="3910330"/>
            <a:ext cx="2743200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43800" y="3965194"/>
            <a:ext cx="2468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先检索再回答，不反问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84580" y="4919980"/>
            <a:ext cx="2468880" cy="11887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4084319" y="4919980"/>
            <a:ext cx="246888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084319" y="5011420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0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零延迟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84319" y="551434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正则匹配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028180" y="4919980"/>
            <a:ext cx="2468880" cy="11887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028180" y="5011420"/>
            <a:ext cx="2468880" cy="5530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0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70-80%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28180" y="551434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正则覆盖率</a:t>
            </a:r>
          </a:p>
        </p:txBody>
      </p:sp>
      <p:sp>
        <p:nvSpPr>
          <p:cNvPr id="67" name="TextBox 54"/>
          <p:cNvSpPr txBox="1"/>
          <p:nvPr/>
        </p:nvSpPr>
        <p:spPr>
          <a:xfrm>
            <a:off x="1084580" y="5011420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000" b="1">
                <a:solidFill>
                  <a:srgbClr val="EB6750"/>
                </a:solidFill>
                <a:latin typeface="微软雅黑" panose="020B0503020204020204" charset="-122"/>
              </a:defRPr>
            </a:pPr>
            <a:r>
              <a:t>6+1</a:t>
            </a:r>
          </a:p>
        </p:txBody>
      </p:sp>
      <p:sp>
        <p:nvSpPr>
          <p:cNvPr id="68" name="TextBox 55"/>
          <p:cNvSpPr txBox="1"/>
          <p:nvPr/>
        </p:nvSpPr>
        <p:spPr>
          <a:xfrm>
            <a:off x="1084580" y="551434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意图分类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640080" y="868680"/>
            <a:ext cx="1097280" cy="25400"/>
          </a:xfrm>
          <a:prstGeom prst="rect">
            <a:avLst/>
          </a:prstGeom>
          <a:solidFill>
            <a:srgbClr val="EB6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2130" y="344170"/>
            <a:ext cx="10058400" cy="5219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2800"/>
              <a:t>Hook 前置处理链</a:t>
            </a:r>
            <a:endParaRPr sz="2800"/>
          </a:p>
        </p:txBody>
      </p:sp>
      <p:sp>
        <p:nvSpPr>
          <p:cNvPr id="6" name="Rounded Rectangle 5"/>
          <p:cNvSpPr/>
          <p:nvPr/>
        </p:nvSpPr>
        <p:spPr>
          <a:xfrm>
            <a:off x="426720" y="1776730"/>
            <a:ext cx="1419860" cy="667385"/>
          </a:xfrm>
          <a:prstGeom prst="roundRect">
            <a:avLst/>
          </a:prstGeom>
          <a:solidFill>
            <a:srgbClr val="EB6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6720" y="1776730"/>
            <a:ext cx="1419860" cy="66738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提问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18360" y="1776730"/>
            <a:ext cx="230505" cy="381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2200" b="1">
                <a:solidFill>
                  <a:srgbClr val="EB6750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92680" y="1776730"/>
            <a:ext cx="1419860" cy="667385"/>
          </a:xfrm>
          <a:prstGeom prst="roundRect">
            <a:avLst/>
          </a:prstGeom>
          <a:solidFill>
            <a:srgbClr val="D45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92680" y="1776730"/>
            <a:ext cx="1419860" cy="66738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FAQ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84320" y="1776730"/>
            <a:ext cx="230505" cy="381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2200" b="1">
                <a:solidFill>
                  <a:srgbClr val="EB6750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8640" y="1776730"/>
            <a:ext cx="1419860" cy="667385"/>
          </a:xfrm>
          <a:prstGeom prst="roundRect">
            <a:avLst/>
          </a:prstGeom>
          <a:solidFill>
            <a:srgbClr val="E07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58640" y="1776730"/>
            <a:ext cx="1419860" cy="66738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流程续接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50280" y="1776730"/>
            <a:ext cx="230505" cy="381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2200" b="1">
                <a:solidFill>
                  <a:srgbClr val="EB6750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4600" y="1776730"/>
            <a:ext cx="1419860" cy="667385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4600" y="1776730"/>
            <a:ext cx="1419860" cy="66738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闲聊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6240" y="1776730"/>
            <a:ext cx="230505" cy="381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2200" b="1">
                <a:solidFill>
                  <a:srgbClr val="EB6750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90560" y="1776730"/>
            <a:ext cx="1419860" cy="667385"/>
          </a:xfrm>
          <a:prstGeom prst="round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0560" y="1776730"/>
            <a:ext cx="1419860" cy="66738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意图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82200" y="1776730"/>
            <a:ext cx="230505" cy="381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2200" b="1">
                <a:solidFill>
                  <a:srgbClr val="EB6750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56520" y="1776730"/>
            <a:ext cx="1419860" cy="667385"/>
          </a:xfrm>
          <a:prstGeom prst="roundRect">
            <a:avLst/>
          </a:prstGeom>
          <a:solidFill>
            <a:srgbClr val="1B8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56520" y="1776730"/>
            <a:ext cx="1419860" cy="66738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策略 → Agent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3730" y="3636010"/>
            <a:ext cx="2560320" cy="16459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2330" y="381889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B8C3E"/>
                </a:solidFill>
                <a:latin typeface="微软雅黑" panose="020B0503020204020204" charset="-122"/>
              </a:defRPr>
            </a:pPr>
            <a:r>
              <a:t>FAQ 命中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2330" y="4184650"/>
            <a:ext cx="2103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直接返回标准答案</a:t>
            </a:r>
            <a:br/>
            <a:r>
              <a:t>零 LLM 开销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85490" y="3636010"/>
            <a:ext cx="2560320" cy="1645920"/>
          </a:xfrm>
          <a:prstGeom prst="round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14090" y="381889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0301E"/>
                </a:solidFill>
                <a:latin typeface="微软雅黑" panose="020B0503020204020204" charset="-122"/>
              </a:defRPr>
            </a:pPr>
            <a:r>
              <a:t>流程续接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14090" y="4184650"/>
            <a:ext cx="2103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检测"第①步"标记</a:t>
            </a:r>
            <a:br/>
            <a:r>
              <a:t>防闲聊检测中断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37250" y="3636010"/>
            <a:ext cx="2560320" cy="1645920"/>
          </a:xfrm>
          <a:prstGeom prst="round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65850" y="381889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8A817"/>
                </a:solidFill>
                <a:latin typeface="微软雅黑" panose="020B0503020204020204" charset="-122"/>
              </a:defRPr>
            </a:pPr>
            <a:r>
              <a:t>闲聊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65850" y="4184650"/>
            <a:ext cx="2103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友好回应</a:t>
            </a:r>
            <a:br/>
            <a:r>
              <a:t>不走知识库检索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89010" y="3636010"/>
            <a:ext cx="2560320" cy="1645920"/>
          </a:xfrm>
          <a:prstGeom prst="round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17610" y="381889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3366CC"/>
                </a:solidFill>
                <a:latin typeface="微软雅黑" panose="020B0503020204020204" charset="-122"/>
              </a:defRPr>
            </a:pPr>
            <a:r>
              <a:t>意图路由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17610" y="4184650"/>
            <a:ext cx="2103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正则分类 → 策略注入</a:t>
            </a:r>
            <a:br/>
            <a:r>
              <a:t>进入 Agent 推理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640080" y="868680"/>
            <a:ext cx="1097280" cy="25400"/>
          </a:xfrm>
          <a:prstGeom prst="rect">
            <a:avLst/>
          </a:prstGeom>
          <a:solidFill>
            <a:srgbClr val="EB6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4830" y="356870"/>
            <a:ext cx="10058400" cy="5219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2800"/>
              <a:t>Prompt 策略分离</a:t>
            </a:r>
            <a:endParaRPr sz="2800"/>
          </a:p>
        </p:txBody>
      </p:sp>
      <p:sp>
        <p:nvSpPr>
          <p:cNvPr id="6" name="Rounded Rectangle 5"/>
          <p:cNvSpPr/>
          <p:nvPr/>
        </p:nvSpPr>
        <p:spPr>
          <a:xfrm>
            <a:off x="640080" y="1611630"/>
            <a:ext cx="4542790" cy="1756410"/>
          </a:xfrm>
          <a:prstGeom prst="roundRect">
            <a:avLst/>
          </a:prstGeom>
          <a:solidFill>
            <a:srgbClr val="FFF5F5"/>
          </a:solidFill>
          <a:ln>
            <a:solidFill>
              <a:srgbClr val="FF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40230"/>
            <a:ext cx="3893820" cy="30670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2000" b="1">
                <a:solidFill>
                  <a:srgbClr val="E0301E"/>
                </a:solidFill>
                <a:latin typeface="微软雅黑" panose="020B0503020204020204" charset="-122"/>
              </a:defRPr>
            </a:pPr>
            <a:r>
              <a:rPr lang="en-US"/>
              <a:t>Base Prompt</a:t>
            </a:r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6400800" y="1611630"/>
            <a:ext cx="4542790" cy="1756410"/>
          </a:xfrm>
          <a:prstGeom prst="roundRect">
            <a:avLst/>
          </a:prstGeom>
          <a:solidFill>
            <a:srgbClr val="E8F5E9"/>
          </a:solidFill>
          <a:ln>
            <a:solidFill>
              <a:srgbClr val="E8F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840230"/>
            <a:ext cx="3893820" cy="30670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2000" b="1">
                <a:solidFill>
                  <a:srgbClr val="1B8C3E"/>
                </a:solidFill>
                <a:latin typeface="微软雅黑" panose="020B0503020204020204" charset="-122"/>
              </a:defRPr>
            </a:pPr>
            <a:r>
              <a:rPr lang="en-US"/>
              <a:t>Hook</a:t>
            </a:r>
            <a:r>
              <a:rPr lang="zh-CN" altLang="en-US"/>
              <a:t>动态</a:t>
            </a:r>
            <a:r>
              <a:rPr lang="zh-CN" altLang="en-US"/>
              <a:t>注入</a:t>
            </a:r>
            <a:endParaRPr lang="zh-CN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6766560" y="2251710"/>
            <a:ext cx="3893820" cy="1054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rPr lang="zh-CN"/>
              <a:t>流程指引</a:t>
            </a:r>
            <a:r>
              <a:rPr lang="en-US" altLang="zh-CN"/>
              <a:t>-&gt;</a:t>
            </a:r>
            <a:r>
              <a:rPr lang="zh-CN" altLang="en-US"/>
              <a:t>流程分步引导</a:t>
            </a:r>
            <a:r>
              <a:rPr lang="zh-CN" altLang="en-US"/>
              <a:t>策略</a:t>
            </a:r>
            <a:endParaRPr lang="zh-CN" altLang="en-US"/>
          </a:p>
          <a:p>
            <a:pPr algn="l">
              <a:defRPr sz="1300" b="0">
                <a:solidFill>
                  <a:srgbClr val="999999"/>
                </a:solidFill>
                <a:latin typeface="微软雅黑" panose="020B0503020204020204" charset="-122"/>
              </a:defRPr>
            </a:pPr>
            <a:endParaRPr lang="zh-CN" altLang="en-US"/>
          </a:p>
          <a:p>
            <a:pPr algn="l">
              <a:defRPr sz="13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rPr lang="zh-CN" altLang="en-US"/>
              <a:t>制度问答</a:t>
            </a:r>
            <a:r>
              <a:rPr lang="en-US" altLang="zh-CN"/>
              <a:t>-&gt;</a:t>
            </a:r>
            <a:r>
              <a:rPr lang="zh-CN" altLang="en-US"/>
              <a:t>精准回答</a:t>
            </a:r>
            <a:r>
              <a:rPr lang="zh-CN" altLang="en-US"/>
              <a:t>策略</a:t>
            </a:r>
            <a:endParaRPr lang="zh-CN" altLang="en-US"/>
          </a:p>
          <a:p>
            <a:pPr algn="l">
              <a:defRPr sz="1300" b="0">
                <a:solidFill>
                  <a:srgbClr val="999999"/>
                </a:solidFill>
                <a:latin typeface="微软雅黑" panose="020B0503020204020204" charset="-122"/>
              </a:defRPr>
            </a:pPr>
            <a:endParaRPr lang="zh-CN" altLang="en-US"/>
          </a:p>
          <a:p>
            <a:pPr algn="l">
              <a:defRPr sz="13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rPr lang="zh-CN" altLang="en-US"/>
              <a:t>每次推理仅注入少许</a:t>
            </a:r>
            <a:r>
              <a:rPr lang="en-US" altLang="zh-CN"/>
              <a:t>Prompt</a:t>
            </a:r>
            <a:r>
              <a:rPr lang="zh-CN" altLang="en-US"/>
              <a:t>，省</a:t>
            </a:r>
            <a:r>
              <a:rPr lang="en-US" altLang="zh-CN"/>
              <a:t>Token</a:t>
            </a:r>
            <a:endParaRPr lang="en-US" altLang="zh-CN"/>
          </a:p>
        </p:txBody>
      </p:sp>
      <p:sp>
        <p:nvSpPr>
          <p:cNvPr id="16" name="Rounded Rectangle 15"/>
          <p:cNvSpPr/>
          <p:nvPr>
            <p:custDataLst>
              <p:tags r:id="rId1"/>
            </p:custDataLst>
          </p:nvPr>
        </p:nvSpPr>
        <p:spPr>
          <a:xfrm>
            <a:off x="640080" y="4456430"/>
            <a:ext cx="3200400" cy="1188720"/>
          </a:xfrm>
          <a:prstGeom prst="roundRect">
            <a:avLst/>
          </a:prstGeom>
          <a:solidFill>
            <a:srgbClr val="FC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>
            <p:custDataLst>
              <p:tags r:id="rId2"/>
            </p:custDataLst>
          </p:nvPr>
        </p:nvSpPr>
        <p:spPr>
          <a:xfrm>
            <a:off x="914400" y="468503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EB6750"/>
                </a:solidFill>
                <a:latin typeface="微软雅黑" panose="020B0503020204020204" charset="-122"/>
              </a:defRPr>
            </a:pPr>
            <a:r>
              <a:t>流程分步引导</a:t>
            </a:r>
          </a:p>
        </p:txBody>
      </p:sp>
      <p:sp>
        <p:nvSpPr>
          <p:cNvPr id="19" name="TextBox 18"/>
          <p:cNvSpPr txBox="1"/>
          <p:nvPr>
            <p:custDataLst>
              <p:tags r:id="rId3"/>
            </p:custDataLst>
          </p:nvPr>
        </p:nvSpPr>
        <p:spPr>
          <a:xfrm>
            <a:off x="914400" y="5005070"/>
            <a:ext cx="265176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概览 → 逐步 → </a:t>
            </a:r>
            <a:r>
              <a:rPr lang="zh-CN"/>
              <a:t>多</a:t>
            </a:r>
            <a:r>
              <a:t>轮收敛</a:t>
            </a:r>
          </a:p>
        </p:txBody>
      </p:sp>
      <p:sp>
        <p:nvSpPr>
          <p:cNvPr id="20" name="Rounded Rectangle 19"/>
          <p:cNvSpPr/>
          <p:nvPr>
            <p:custDataLst>
              <p:tags r:id="rId4"/>
            </p:custDataLst>
          </p:nvPr>
        </p:nvSpPr>
        <p:spPr>
          <a:xfrm>
            <a:off x="4114800" y="4456430"/>
            <a:ext cx="3200400" cy="11887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>
            <p:custDataLst>
              <p:tags r:id="rId5"/>
            </p:custDataLst>
          </p:nvPr>
        </p:nvSpPr>
        <p:spPr>
          <a:xfrm>
            <a:off x="4389120" y="468503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精准回答</a:t>
            </a:r>
          </a:p>
        </p:txBody>
      </p:sp>
      <p:sp>
        <p:nvSpPr>
          <p:cNvPr id="23" name="TextBox 22"/>
          <p:cNvSpPr txBox="1"/>
          <p:nvPr>
            <p:custDataLst>
              <p:tags r:id="rId6"/>
            </p:custDataLst>
          </p:nvPr>
        </p:nvSpPr>
        <p:spPr>
          <a:xfrm>
            <a:off x="4389120" y="500507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逐条列条款 · 标注出处</a:t>
            </a:r>
          </a:p>
        </p:txBody>
      </p:sp>
      <p:sp>
        <p:nvSpPr>
          <p:cNvPr id="24" name="Rounded Rectangle 23"/>
          <p:cNvSpPr/>
          <p:nvPr>
            <p:custDataLst>
              <p:tags r:id="rId7"/>
            </p:custDataLst>
          </p:nvPr>
        </p:nvSpPr>
        <p:spPr>
          <a:xfrm>
            <a:off x="7589520" y="4456430"/>
            <a:ext cx="3200400" cy="1188720"/>
          </a:xfrm>
          <a:prstGeom prst="round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>
            <p:custDataLst>
              <p:tags r:id="rId8"/>
            </p:custDataLst>
          </p:nvPr>
        </p:nvSpPr>
        <p:spPr>
          <a:xfrm>
            <a:off x="7863840" y="468503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E8A817"/>
                </a:solidFill>
                <a:latin typeface="微软雅黑" panose="020B0503020204020204" charset="-122"/>
              </a:defRPr>
            </a:pPr>
            <a:r>
              <a:t>兜底检索</a:t>
            </a:r>
          </a:p>
        </p:txBody>
      </p:sp>
      <p:sp>
        <p:nvSpPr>
          <p:cNvPr id="27" name="TextBox 26"/>
          <p:cNvSpPr txBox="1"/>
          <p:nvPr>
            <p:custDataLst>
              <p:tags r:id="rId9"/>
            </p:custDataLst>
          </p:nvPr>
        </p:nvSpPr>
        <p:spPr>
          <a:xfrm>
            <a:off x="7863840" y="500507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先检索 · 结果空如实告知</a:t>
            </a:r>
          </a:p>
        </p:txBody>
      </p:sp>
      <p:sp>
        <p:nvSpPr>
          <p:cNvPr id="29" name="TextBox 14"/>
          <p:cNvSpPr txBox="1"/>
          <p:nvPr/>
        </p:nvSpPr>
        <p:spPr>
          <a:xfrm>
            <a:off x="1005840" y="2115185"/>
            <a:ext cx="3717290" cy="105473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微软雅黑" panose="020B0503020204020204" charset="-122"/>
              </a:defRPr>
            </a:pPr>
            <a:endParaRPr lang="zh-CN"/>
          </a:p>
          <a:p>
            <a:pPr algn="l">
              <a:defRPr sz="13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rPr lang="zh-CN"/>
              <a:t>角色定义</a:t>
            </a:r>
            <a:endParaRPr lang="zh-CN"/>
          </a:p>
          <a:p>
            <a:pPr algn="l">
              <a:defRPr sz="1300" b="0">
                <a:solidFill>
                  <a:srgbClr val="999999"/>
                </a:solidFill>
                <a:latin typeface="微软雅黑" panose="020B0503020204020204" charset="-122"/>
              </a:defRPr>
            </a:pPr>
            <a:endParaRPr lang="zh-CN"/>
          </a:p>
          <a:p>
            <a:pPr algn="l">
              <a:defRPr sz="13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rPr lang="zh-CN"/>
              <a:t>工具声明</a:t>
            </a:r>
            <a:endParaRPr lang="zh-CN"/>
          </a:p>
          <a:p>
            <a:pPr algn="l">
              <a:defRPr sz="1300" b="0">
                <a:solidFill>
                  <a:srgbClr val="999999"/>
                </a:solidFill>
                <a:latin typeface="微软雅黑" panose="020B0503020204020204" charset="-122"/>
              </a:defRPr>
            </a:pPr>
            <a:endParaRPr lang="zh-CN" altLang="en-US"/>
          </a:p>
          <a:p>
            <a:pPr algn="l">
              <a:defRPr sz="13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rPr lang="zh-CN" altLang="en-US"/>
              <a:t>通用</a:t>
            </a:r>
            <a:r>
              <a:rPr lang="zh-CN" altLang="en-US"/>
              <a:t>规则</a:t>
            </a:r>
            <a:endParaRPr lang="zh-CN" altLang="en-US"/>
          </a:p>
          <a:p>
            <a:pPr algn="l">
              <a:defRPr sz="1300" b="0">
                <a:solidFill>
                  <a:srgbClr val="999999"/>
                </a:solidFill>
                <a:latin typeface="微软雅黑" panose="020B0503020204020204" charset="-122"/>
              </a:defRPr>
            </a:pPr>
            <a:endParaRPr lang="en-US" altLang="zh-C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640080" y="868680"/>
            <a:ext cx="1097280" cy="25400"/>
          </a:xfrm>
          <a:prstGeom prst="rect">
            <a:avLst/>
          </a:prstGeom>
          <a:solidFill>
            <a:srgbClr val="EB6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4030" y="219075"/>
            <a:ext cx="10058400" cy="5219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2800"/>
              <a:t>ReAct 模式</a:t>
            </a:r>
            <a:endParaRPr sz="2800"/>
          </a:p>
        </p:txBody>
      </p:sp>
      <p:sp>
        <p:nvSpPr>
          <p:cNvPr id="6" name="Rounded Rectangle 5"/>
          <p:cNvSpPr/>
          <p:nvPr/>
        </p:nvSpPr>
        <p:spPr>
          <a:xfrm>
            <a:off x="881380" y="1813560"/>
            <a:ext cx="1737360" cy="1051560"/>
          </a:xfrm>
          <a:prstGeom prst="roundRect">
            <a:avLst/>
          </a:prstGeom>
          <a:solidFill>
            <a:srgbClr val="EB6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1380" y="1813560"/>
            <a:ext cx="17373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💭</a:t>
            </a:r>
            <a:br/>
            <a:r>
              <a:t>Thought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18739" y="1996440"/>
            <a:ext cx="274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EB6750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84500" y="1813560"/>
            <a:ext cx="1737360" cy="105156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84500" y="1813560"/>
            <a:ext cx="17373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🔧</a:t>
            </a:r>
            <a:br/>
            <a:r>
              <a:t>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1860" y="1996440"/>
            <a:ext cx="274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EB6750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87620" y="1813560"/>
            <a:ext cx="1737360" cy="1051560"/>
          </a:xfrm>
          <a:prstGeom prst="round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87620" y="1813560"/>
            <a:ext cx="17373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👁</a:t>
            </a:r>
            <a:br/>
            <a:r>
              <a:t>Observation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24979" y="1996440"/>
            <a:ext cx="274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EB6750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90740" y="1813560"/>
            <a:ext cx="1737360" cy="1051560"/>
          </a:xfrm>
          <a:prstGeom prst="roundRect">
            <a:avLst/>
          </a:prstGeom>
          <a:solidFill>
            <a:srgbClr val="EB6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90740" y="1813560"/>
            <a:ext cx="17373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💭</a:t>
            </a:r>
            <a:br/>
            <a:r>
              <a:t>Thought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28100" y="1996440"/>
            <a:ext cx="274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EB6750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93859" y="1813560"/>
            <a:ext cx="1737360" cy="1051560"/>
          </a:xfrm>
          <a:prstGeom prst="roundRect">
            <a:avLst/>
          </a:prstGeom>
          <a:solidFill>
            <a:srgbClr val="1B8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3859" y="1813560"/>
            <a:ext cx="17373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✍️</a:t>
            </a:r>
            <a:br/>
            <a:r>
              <a:t>Final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06500" y="3681730"/>
            <a:ext cx="9418320" cy="20116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06500" y="3864610"/>
            <a:ext cx="9418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核心安全机制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6500" y="4276090"/>
            <a:ext cx="9418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检索质量不达标 → 最高优先级指令 → LLM 原样输出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6500" y="4916170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EB6750"/>
                </a:solidFill>
                <a:latin typeface="微软雅黑" panose="020B0503020204020204" charset="-122"/>
              </a:defRPr>
            </a:pPr>
            <a:r>
              <a:t>100% 防止编造答案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640080" y="868680"/>
            <a:ext cx="1097280" cy="25400"/>
          </a:xfrm>
          <a:prstGeom prst="rect">
            <a:avLst/>
          </a:prstGeom>
          <a:solidFill>
            <a:srgbClr val="EB6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2130" y="363220"/>
            <a:ext cx="10058400" cy="5219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2800"/>
              <a:t>FAQ 四级匹配</a:t>
            </a:r>
            <a:endParaRPr sz="2800"/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2560320" cy="1828800"/>
          </a:xfrm>
          <a:prstGeom prst="roundRect">
            <a:avLst/>
          </a:prstGeom>
          <a:solidFill>
            <a:srgbClr val="EB6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rial" panose="020B0604020202020204"/>
              </a:defRPr>
            </a:pPr>
            <a:r>
              <a:t>L1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精确匹配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6324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FFCCCC"/>
                </a:solidFill>
                <a:latin typeface="微软雅黑" panose="020B0503020204020204" charset="-122"/>
              </a:defRPr>
            </a:pPr>
            <a:r>
              <a:t>&lt; 1ms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011680"/>
            <a:ext cx="2560320" cy="1828800"/>
          </a:xfrm>
          <a:prstGeom prst="roundRect">
            <a:avLst/>
          </a:prstGeom>
          <a:solidFill>
            <a:srgbClr val="D45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214884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rial" panose="020B0604020202020204"/>
              </a:defRPr>
            </a:pPr>
            <a:r>
              <a:t>L2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69748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模糊匹配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06324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FFCCCC"/>
                </a:solidFill>
                <a:latin typeface="微软雅黑" panose="020B0503020204020204" charset="-122"/>
              </a:defRPr>
            </a:pPr>
            <a:r>
              <a:t>~ 1ms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011680"/>
            <a:ext cx="2560320" cy="1828800"/>
          </a:xfrm>
          <a:prstGeom prst="roundRect">
            <a:avLst/>
          </a:prstGeom>
          <a:solidFill>
            <a:srgbClr val="A85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14884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rial" panose="020B0604020202020204"/>
              </a:defRPr>
            </a:pPr>
            <a:r>
              <a:t>L3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69748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关键词匹配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06324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FFCCCC"/>
                </a:solidFill>
                <a:latin typeface="微软雅黑" panose="020B0503020204020204" charset="-122"/>
              </a:defRPr>
            </a:pPr>
            <a:r>
              <a:t>~ 2ms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2011680"/>
            <a:ext cx="2560320" cy="1828800"/>
          </a:xfrm>
          <a:prstGeom prst="roundRect">
            <a:avLst/>
          </a:prstGeom>
          <a:solidFill>
            <a:srgbClr val="8B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214884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rial" panose="020B0604020202020204"/>
              </a:defRPr>
            </a:pPr>
            <a:r>
              <a:t>L4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69748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语义匹配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306324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FFCCCC"/>
                </a:solidFill>
                <a:latin typeface="微软雅黑" panose="020B0503020204020204" charset="-122"/>
              </a:defRPr>
            </a:pPr>
            <a:r>
              <a:t>cos &gt; 0.70 · ~200ms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66590"/>
            <a:ext cx="10881360" cy="14630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60375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FAQ 闭环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015230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聊天记录 → 向量化 → 语义聚类 (0.85) → 覆盖过滤 → HR 审核入库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472430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系统随使用持续进化 · 已回答问题下次零成本命中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640080" y="868680"/>
            <a:ext cx="1097280" cy="25400"/>
          </a:xfrm>
          <a:prstGeom prst="rect">
            <a:avLst/>
          </a:prstGeom>
          <a:solidFill>
            <a:srgbClr val="EB6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2130" y="312420"/>
            <a:ext cx="10058400" cy="5219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2800"/>
              <a:t>质量</a:t>
            </a:r>
            <a:endParaRPr sz="2800"/>
          </a:p>
        </p:txBody>
      </p:sp>
      <p:sp>
        <p:nvSpPr>
          <p:cNvPr id="6" name="Rounded Rectangle 5"/>
          <p:cNvSpPr/>
          <p:nvPr/>
        </p:nvSpPr>
        <p:spPr>
          <a:xfrm>
            <a:off x="996950" y="1681480"/>
            <a:ext cx="9418320" cy="914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950" y="1681480"/>
            <a:ext cx="94183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2D2D2D"/>
                </a:solidFill>
                <a:latin typeface="Arial" panose="020B0604020202020204"/>
              </a:defRPr>
            </a:pPr>
            <a:r>
              <a:t>RRF ≥ 0.01   AND   LLM ≥ 3   →   PASSED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不达标时的三层防护</a:t>
            </a:r>
          </a:p>
        </p:txBody>
      </p:sp>
      <p:sp>
        <p:nvSpPr>
          <p:cNvPr id="9" name="Rounded Rectangle 8"/>
          <p:cNvSpPr/>
          <p:nvPr>
            <p:custDataLst>
              <p:tags r:id="rId1"/>
            </p:custDataLst>
          </p:nvPr>
        </p:nvSpPr>
        <p:spPr>
          <a:xfrm>
            <a:off x="640080" y="3749039"/>
            <a:ext cx="3200400" cy="16459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2"/>
            </p:custDataLst>
          </p:nvPr>
        </p:nvSpPr>
        <p:spPr>
          <a:xfrm>
            <a:off x="868680" y="39319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B8C3E"/>
                </a:solidFill>
                <a:latin typeface="微软雅黑" panose="020B0503020204020204" charset="-122"/>
              </a:defRPr>
            </a:pPr>
            <a:r>
              <a:t>Layer 1</a:t>
            </a:r>
          </a:p>
        </p:txBody>
      </p:sp>
      <p:sp>
        <p:nvSpPr>
          <p:cNvPr id="12" name="TextBox 11"/>
          <p:cNvSpPr txBox="1"/>
          <p:nvPr>
            <p:custDataLst>
              <p:tags r:id="rId3"/>
            </p:custDataLst>
          </p:nvPr>
        </p:nvSpPr>
        <p:spPr>
          <a:xfrm>
            <a:off x="868680" y="4297679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Prompt 硬约束</a:t>
            </a:r>
            <a:br/>
            <a:r>
              <a:t>「没有的一律不写」</a:t>
            </a:r>
          </a:p>
        </p:txBody>
      </p:sp>
      <p:sp>
        <p:nvSpPr>
          <p:cNvPr id="13" name="Rounded Rectangle 12"/>
          <p:cNvSpPr/>
          <p:nvPr>
            <p:custDataLst>
              <p:tags r:id="rId4"/>
            </p:custDataLst>
          </p:nvPr>
        </p:nvSpPr>
        <p:spPr>
          <a:xfrm>
            <a:off x="4114800" y="3749039"/>
            <a:ext cx="3200400" cy="1645920"/>
          </a:xfrm>
          <a:prstGeom prst="round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5"/>
            </p:custDataLst>
          </p:nvPr>
        </p:nvSpPr>
        <p:spPr>
          <a:xfrm>
            <a:off x="4343400" y="39319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8A817"/>
                </a:solidFill>
                <a:latin typeface="微软雅黑" panose="020B0503020204020204" charset="-122"/>
              </a:defRPr>
            </a:pPr>
            <a:r>
              <a:t>Layer 2</a:t>
            </a:r>
          </a:p>
        </p:txBody>
      </p:sp>
      <p:sp>
        <p:nvSpPr>
          <p:cNvPr id="16" name="TextBox 15"/>
          <p:cNvSpPr txBox="1"/>
          <p:nvPr>
            <p:custDataLst>
              <p:tags r:id="rId6"/>
            </p:custDataLst>
          </p:nvPr>
        </p:nvSpPr>
        <p:spPr>
          <a:xfrm>
            <a:off x="4343400" y="4297679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最高优先级指令</a:t>
            </a:r>
            <a:br/>
            <a:r>
              <a:t>LLM 原样输出</a:t>
            </a:r>
          </a:p>
        </p:txBody>
      </p:sp>
      <p:sp>
        <p:nvSpPr>
          <p:cNvPr id="17" name="Rounded Rectangle 16"/>
          <p:cNvSpPr/>
          <p:nvPr>
            <p:custDataLst>
              <p:tags r:id="rId7"/>
            </p:custDataLst>
          </p:nvPr>
        </p:nvSpPr>
        <p:spPr>
          <a:xfrm>
            <a:off x="7589520" y="3749039"/>
            <a:ext cx="3200400" cy="1645920"/>
          </a:xfrm>
          <a:prstGeom prst="round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>
            <p:custDataLst>
              <p:tags r:id="rId8"/>
            </p:custDataLst>
          </p:nvPr>
        </p:nvSpPr>
        <p:spPr>
          <a:xfrm>
            <a:off x="7818120" y="39319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0301E"/>
                </a:solidFill>
                <a:latin typeface="微软雅黑" panose="020B0503020204020204" charset="-122"/>
              </a:defRPr>
            </a:pPr>
            <a:r>
              <a:t>Layer 3</a:t>
            </a:r>
          </a:p>
        </p:txBody>
      </p:sp>
      <p:sp>
        <p:nvSpPr>
          <p:cNvPr id="20" name="TextBox 19"/>
          <p:cNvSpPr txBox="1"/>
          <p:nvPr>
            <p:custDataLst>
              <p:tags r:id="rId9"/>
            </p:custDataLst>
          </p:nvPr>
        </p:nvSpPr>
        <p:spPr>
          <a:xfrm>
            <a:off x="7818120" y="4297679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FALLBACK</a:t>
            </a:r>
            <a:br/>
            <a:r>
              <a:t>先检索再回答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7607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用户反馈 👍/👎 → 质量看板统计 → 驱动 FAQ 和策略持续优化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640080" y="868680"/>
            <a:ext cx="1097280" cy="25400"/>
          </a:xfrm>
          <a:prstGeom prst="rect">
            <a:avLst/>
          </a:prstGeom>
          <a:solidFill>
            <a:srgbClr val="EB6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3080" y="279400"/>
            <a:ext cx="10058400" cy="5219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2800"/>
              <a:t>多轮交互</a:t>
            </a:r>
            <a:endParaRPr sz="2800"/>
          </a:p>
        </p:txBody>
      </p:sp>
      <p:sp>
        <p:nvSpPr>
          <p:cNvPr id="6" name="Rounded Rectangle 5"/>
          <p:cNvSpPr/>
          <p:nvPr>
            <p:custDataLst>
              <p:tags r:id="rId1"/>
            </p:custDataLst>
          </p:nvPr>
        </p:nvSpPr>
        <p:spPr>
          <a:xfrm>
            <a:off x="640080" y="1611630"/>
            <a:ext cx="3200400" cy="2560320"/>
          </a:xfrm>
          <a:prstGeom prst="roundRect">
            <a:avLst/>
          </a:prstGeom>
          <a:solidFill>
            <a:srgbClr val="FC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>
            <p:custDataLst>
              <p:tags r:id="rId2"/>
            </p:custDataLst>
          </p:nvPr>
        </p:nvSpPr>
        <p:spPr>
          <a:xfrm>
            <a:off x="914400" y="179451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EB6750"/>
                </a:solidFill>
                <a:latin typeface="微软雅黑" panose="020B0503020204020204" charset="-122"/>
              </a:defRPr>
            </a:pPr>
            <a:r>
              <a:t>第 1 轮</a:t>
            </a:r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914400" y="2251710"/>
            <a:ext cx="2651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"请假流程怎么走？"</a:t>
            </a:r>
          </a:p>
        </p:txBody>
      </p:sp>
      <p:sp>
        <p:nvSpPr>
          <p:cNvPr id="10" name="TextBox 9"/>
          <p:cNvSpPr txBox="1"/>
          <p:nvPr>
            <p:custDataLst>
              <p:tags r:id="rId4"/>
            </p:custDataLst>
          </p:nvPr>
        </p:nvSpPr>
        <p:spPr>
          <a:xfrm>
            <a:off x="914400" y="2708910"/>
            <a:ext cx="2651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流程概览：① 提交申请</a:t>
            </a:r>
            <a:br/>
            <a:r>
              <a:t>② 部门审批 ③ HR备案</a:t>
            </a:r>
            <a:br/>
            <a:r>
              <a:t>准备好了吗？</a:t>
            </a:r>
          </a:p>
        </p:txBody>
      </p:sp>
      <p:sp>
        <p:nvSpPr>
          <p:cNvPr id="11" name="Rounded Rectangle 10"/>
          <p:cNvSpPr/>
          <p:nvPr>
            <p:custDataLst>
              <p:tags r:id="rId5"/>
            </p:custDataLst>
          </p:nvPr>
        </p:nvSpPr>
        <p:spPr>
          <a:xfrm>
            <a:off x="4114800" y="1611630"/>
            <a:ext cx="3200400" cy="2560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>
            <p:custDataLst>
              <p:tags r:id="rId6"/>
            </p:custDataLst>
          </p:nvPr>
        </p:nvSpPr>
        <p:spPr>
          <a:xfrm>
            <a:off x="4389120" y="179451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第 2 轮 · 续接</a:t>
            </a:r>
          </a:p>
        </p:txBody>
      </p:sp>
      <p:sp>
        <p:nvSpPr>
          <p:cNvPr id="14" name="TextBox 13"/>
          <p:cNvSpPr txBox="1"/>
          <p:nvPr>
            <p:custDataLst>
              <p:tags r:id="rId7"/>
            </p:custDataLst>
          </p:nvPr>
        </p:nvSpPr>
        <p:spPr>
          <a:xfrm>
            <a:off x="4389120" y="2251710"/>
            <a:ext cx="2651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"好的"</a:t>
            </a:r>
          </a:p>
        </p:txBody>
      </p:sp>
      <p:sp>
        <p:nvSpPr>
          <p:cNvPr id="15" name="TextBox 14"/>
          <p:cNvSpPr txBox="1"/>
          <p:nvPr>
            <p:custDataLst>
              <p:tags r:id="rId8"/>
            </p:custDataLst>
          </p:nvPr>
        </p:nvSpPr>
        <p:spPr>
          <a:xfrm>
            <a:off x="4389120" y="2708910"/>
            <a:ext cx="2651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Hook 检测流程标记</a:t>
            </a:r>
            <a:br/>
            <a:r>
              <a:t>→ 识别为续接</a:t>
            </a:r>
            <a:br/>
            <a:r>
              <a:t>→ 推进到第①步详解</a:t>
            </a:r>
          </a:p>
        </p:txBody>
      </p:sp>
      <p:sp>
        <p:nvSpPr>
          <p:cNvPr id="16" name="Rounded Rectangle 15"/>
          <p:cNvSpPr/>
          <p:nvPr>
            <p:custDataLst>
              <p:tags r:id="rId9"/>
            </p:custDataLst>
          </p:nvPr>
        </p:nvSpPr>
        <p:spPr>
          <a:xfrm>
            <a:off x="7589520" y="1611630"/>
            <a:ext cx="3200400" cy="25603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>
            <p:custDataLst>
              <p:tags r:id="rId10"/>
            </p:custDataLst>
          </p:nvPr>
        </p:nvSpPr>
        <p:spPr>
          <a:xfrm>
            <a:off x="7863840" y="179451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1B8C3E"/>
                </a:solidFill>
                <a:latin typeface="微软雅黑" panose="020B0503020204020204" charset="-122"/>
              </a:defRPr>
            </a:pPr>
            <a:r>
              <a:t>第 3 轮 · 收敛</a:t>
            </a:r>
          </a:p>
        </p:txBody>
      </p:sp>
      <p:sp>
        <p:nvSpPr>
          <p:cNvPr id="19" name="TextBox 18"/>
          <p:cNvSpPr txBox="1"/>
          <p:nvPr>
            <p:custDataLst>
              <p:tags r:id="rId11"/>
            </p:custDataLst>
          </p:nvPr>
        </p:nvSpPr>
        <p:spPr>
          <a:xfrm>
            <a:off x="7863840" y="2251710"/>
            <a:ext cx="2651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"清楚了，继续"</a:t>
            </a:r>
          </a:p>
        </p:txBody>
      </p:sp>
      <p:sp>
        <p:nvSpPr>
          <p:cNvPr id="20" name="TextBox 19"/>
          <p:cNvSpPr txBox="1"/>
          <p:nvPr>
            <p:custDataLst>
              <p:tags r:id="rId12"/>
            </p:custDataLst>
          </p:nvPr>
        </p:nvSpPr>
        <p:spPr>
          <a:xfrm>
            <a:off x="7863840" y="2708910"/>
            <a:ext cx="2651760" cy="645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zh-CN"/>
              <a:t>多</a:t>
            </a:r>
            <a:r>
              <a:t>轮必须给出最终答案</a:t>
            </a:r>
            <a:br/>
            <a:r>
              <a:t>禁止继续追问</a:t>
            </a:r>
            <a:br/>
            <a:r>
              <a:t>完整流程讲解结束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937760"/>
            <a:ext cx="10881360" cy="13893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02920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防中断机制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isInProcessGuidanceFlow() — 检查上轮回答是否含"第①步""流程概览"等标记</a:t>
            </a:r>
          </a:p>
          <a:p>
            <a:pPr>
              <a:spcAft>
                <a:spcPts val="200"/>
              </a:spcAft>
              <a:defRPr sz="11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isFlowContinuation() — 识别"继续""好的""下一步"等续接信号 · 长度 ≤6 视为续接</a:t>
            </a:r>
          </a:p>
          <a:p>
            <a:pPr>
              <a:spcAft>
                <a:spcPts val="200"/>
              </a:spcAft>
              <a:defRPr sz="11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3 轮收敛规则 — 第 3 轮用户发言后必须给出最终答案，禁止再追问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640080" y="868680"/>
            <a:ext cx="1097280" cy="25400"/>
          </a:xfrm>
          <a:prstGeom prst="rect">
            <a:avLst/>
          </a:prstGeom>
          <a:solidFill>
            <a:srgbClr val="EB6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5780" y="318770"/>
            <a:ext cx="10058400" cy="5219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2800"/>
              <a:t>问答</a:t>
            </a:r>
            <a:endParaRPr sz="2800"/>
          </a:p>
        </p:txBody>
      </p:sp>
      <p:sp>
        <p:nvSpPr>
          <p:cNvPr id="6" name="TextBox 5"/>
          <p:cNvSpPr txBox="1"/>
          <p:nvPr/>
        </p:nvSpPr>
        <p:spPr>
          <a:xfrm>
            <a:off x="640080" y="146685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EB6750"/>
                </a:solidFill>
                <a:latin typeface="微软雅黑" panose="020B0503020204020204" charset="-122"/>
              </a:defRPr>
            </a:pPr>
            <a:r>
              <a:t>"年假怎么计算？"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9770"/>
            <a:ext cx="10789920" cy="502920"/>
          </a:xfrm>
          <a:prstGeom prst="roundRect">
            <a:avLst/>
          </a:prstGeom>
          <a:solidFill>
            <a:srgbClr val="FC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42922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EB6750"/>
                </a:solidFill>
                <a:latin typeface="微软雅黑" panose="020B0503020204020204" charset="-122"/>
              </a:defRPr>
            </a:pPr>
            <a:r>
              <a:t>FAQ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04292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四级匹配 → 未命中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64129"/>
            <a:ext cx="1078992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637282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EB6750"/>
                </a:solidFill>
                <a:latin typeface="微软雅黑" panose="020B0503020204020204" charset="-122"/>
              </a:defRPr>
            </a:pPr>
            <a:r>
              <a:t>意图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63728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PROCESS_GUIDE → 注入分步引导策略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58489"/>
            <a:ext cx="10789920" cy="502920"/>
          </a:xfrm>
          <a:prstGeom prst="roundRect">
            <a:avLst/>
          </a:prstGeom>
          <a:solidFill>
            <a:srgbClr val="FC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231641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EB6750"/>
                </a:solidFill>
                <a:latin typeface="微软雅黑" panose="020B0503020204020204" charset="-122"/>
              </a:defRPr>
            </a:pPr>
            <a:r>
              <a:t>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231641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Thought → searchKnowledge("年假 计算")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52850"/>
            <a:ext cx="1078992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826002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EB6750"/>
                </a:solidFill>
                <a:latin typeface="微软雅黑" panose="020B0503020204020204" charset="-122"/>
              </a:defRPr>
            </a:pPr>
            <a:r>
              <a:t>检索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82600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向量(10) + 关键词(10) → RRF → LLM 重排 → Top-3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347210"/>
            <a:ext cx="10789920" cy="502920"/>
          </a:xfrm>
          <a:prstGeom prst="roundRect">
            <a:avLst/>
          </a:prstGeom>
          <a:solidFill>
            <a:srgbClr val="FC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420362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B8C3E"/>
                </a:solidFill>
                <a:latin typeface="微软雅黑" panose="020B0503020204020204" charset="-122"/>
              </a:defRPr>
            </a:pPr>
            <a:r>
              <a:t>质量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442036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llm=4, rrf=0.032 → PASSED 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941570"/>
            <a:ext cx="1078992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014722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B8C3E"/>
                </a:solidFill>
                <a:latin typeface="微软雅黑" panose="020B0503020204020204" charset="-122"/>
              </a:defRPr>
            </a:pPr>
            <a:r>
              <a:t>输出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501472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"工龄1-10年：5天 | 10-20年：10天【出处】员工手册 &gt; 第5.2条"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640080" y="868680"/>
            <a:ext cx="1097280" cy="25400"/>
          </a:xfrm>
          <a:prstGeom prst="rect">
            <a:avLst/>
          </a:prstGeom>
          <a:solidFill>
            <a:srgbClr val="EB6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8480" y="299720"/>
            <a:ext cx="10058400" cy="5219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2800"/>
              <a:t>关键技术决策</a:t>
            </a:r>
            <a:endParaRPr sz="2800"/>
          </a:p>
        </p:txBody>
      </p:sp>
      <p:sp>
        <p:nvSpPr>
          <p:cNvPr id="6" name="Rounded Rectangle 5"/>
          <p:cNvSpPr/>
          <p:nvPr/>
        </p:nvSpPr>
        <p:spPr>
          <a:xfrm>
            <a:off x="640080" y="1507490"/>
            <a:ext cx="1554480" cy="438912"/>
          </a:xfrm>
          <a:prstGeom prst="roundRect">
            <a:avLst/>
          </a:prstGeom>
          <a:solidFill>
            <a:srgbClr val="EB6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80642"/>
            <a:ext cx="12801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决策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0" y="1507490"/>
            <a:ext cx="2926080" cy="438912"/>
          </a:xfrm>
          <a:prstGeom prst="roundRect">
            <a:avLst/>
          </a:prstGeom>
          <a:solidFill>
            <a:srgbClr val="EB6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20" y="1580642"/>
            <a:ext cx="2651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选择 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1507490"/>
            <a:ext cx="2926080" cy="438912"/>
          </a:xfrm>
          <a:prstGeom prst="roundRect">
            <a:avLst/>
          </a:prstGeom>
          <a:solidFill>
            <a:srgbClr val="EB6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800" y="1580642"/>
            <a:ext cx="2651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舍弃 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07490"/>
            <a:ext cx="2743200" cy="438912"/>
          </a:xfrm>
          <a:prstGeom prst="roundRect">
            <a:avLst/>
          </a:prstGeom>
          <a:solidFill>
            <a:srgbClr val="EB6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580642"/>
            <a:ext cx="2468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原因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037842"/>
            <a:ext cx="155448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110994"/>
            <a:ext cx="12801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意图分类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94560" y="2037842"/>
            <a:ext cx="292608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31720" y="2110994"/>
            <a:ext cx="2651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EB6750"/>
                </a:solidFill>
                <a:latin typeface="微软雅黑" panose="020B0503020204020204" charset="-122"/>
              </a:defRPr>
            </a:pPr>
            <a:r>
              <a:t>正则匹配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2037842"/>
            <a:ext cx="292608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57800" y="2110994"/>
            <a:ext cx="2651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LLM 分类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2037842"/>
            <a:ext cx="274320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80" y="2110994"/>
            <a:ext cx="2468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零延迟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2568194"/>
            <a:ext cx="1554480" cy="43891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641346"/>
            <a:ext cx="12801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FALLBACK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2568194"/>
            <a:ext cx="2926080" cy="43891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31720" y="2641346"/>
            <a:ext cx="2651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EB6750"/>
                </a:solidFill>
                <a:latin typeface="微软雅黑" panose="020B0503020204020204" charset="-122"/>
              </a:defRPr>
            </a:pPr>
            <a:r>
              <a:t>先检索再回答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20640" y="2568194"/>
            <a:ext cx="2926080" cy="43891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57800" y="2641346"/>
            <a:ext cx="2651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反问+禁检索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2568194"/>
            <a:ext cx="2743200" cy="43891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80" y="2641346"/>
            <a:ext cx="2468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检索是最好的兜底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3098546"/>
            <a:ext cx="155448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3171698"/>
            <a:ext cx="12801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策略注入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94560" y="3098546"/>
            <a:ext cx="292608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31720" y="3171698"/>
            <a:ext cx="2651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EB6750"/>
                </a:solidFill>
                <a:latin typeface="微软雅黑" panose="020B0503020204020204" charset="-122"/>
              </a:defRPr>
            </a:pPr>
            <a:r>
              <a:t>Hook 动态注入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20640" y="3098546"/>
            <a:ext cx="292608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57800" y="3171698"/>
            <a:ext cx="2651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全写 Prompt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0" y="3098546"/>
            <a:ext cx="274320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83880" y="3171698"/>
            <a:ext cx="2468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省 60% token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3628898"/>
            <a:ext cx="1554480" cy="43891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3702050"/>
            <a:ext cx="12801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文档切分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194560" y="3628898"/>
            <a:ext cx="2926080" cy="43891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331720" y="3702050"/>
            <a:ext cx="2651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EB6750"/>
                </a:solidFill>
                <a:latin typeface="微软雅黑" panose="020B0503020204020204" charset="-122"/>
              </a:defRPr>
            </a:pPr>
            <a:r>
              <a:t>结构感知 (3种)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120640" y="3628898"/>
            <a:ext cx="2926080" cy="43891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57800" y="3702050"/>
            <a:ext cx="2651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固定 Token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46720" y="3628898"/>
            <a:ext cx="2743200" cy="43891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83880" y="3702050"/>
            <a:ext cx="2468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保留章节元数据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" y="4159250"/>
            <a:ext cx="155448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" y="4232402"/>
            <a:ext cx="12801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检索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194560" y="4159250"/>
            <a:ext cx="292608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331720" y="4232402"/>
            <a:ext cx="2651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EB6750"/>
                </a:solidFill>
                <a:latin typeface="微软雅黑" panose="020B0503020204020204" charset="-122"/>
              </a:defRPr>
            </a:pPr>
            <a:r>
              <a:t>向量+关键词+RRF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120640" y="4159250"/>
            <a:ext cx="292608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257800" y="4232402"/>
            <a:ext cx="2651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纯向量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46720" y="4159250"/>
            <a:ext cx="274320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83880" y="4232402"/>
            <a:ext cx="2468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精确+语义互补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0080" y="4689602"/>
            <a:ext cx="1554480" cy="43891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7240" y="4762754"/>
            <a:ext cx="12801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安全兜底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194560" y="4689602"/>
            <a:ext cx="2926080" cy="43891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331720" y="4762754"/>
            <a:ext cx="2651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EB6750"/>
                </a:solidFill>
                <a:latin typeface="微软雅黑" panose="020B0503020204020204" charset="-122"/>
              </a:defRPr>
            </a:pPr>
            <a:r>
              <a:t>最高优先级指令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120640" y="4689602"/>
            <a:ext cx="2926080" cy="43891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257800" y="4762754"/>
            <a:ext cx="2651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依赖 LLM 自觉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046720" y="4689602"/>
            <a:ext cx="2743200" cy="43891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183880" y="4762754"/>
            <a:ext cx="2468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框架级强制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" y="5219954"/>
            <a:ext cx="155448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77240" y="5293106"/>
            <a:ext cx="12801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Agent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194560" y="5219954"/>
            <a:ext cx="292608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331720" y="5293106"/>
            <a:ext cx="2651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EB6750"/>
                </a:solidFill>
                <a:latin typeface="微软雅黑" panose="020B0503020204020204" charset="-122"/>
              </a:defRPr>
            </a:pPr>
            <a:r>
              <a:t>ReAct (单工具)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120640" y="5219954"/>
            <a:ext cx="292608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257800" y="5293106"/>
            <a:ext cx="2651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Multi-Agent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046720" y="5219954"/>
            <a:ext cx="274320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183880" y="5293106"/>
            <a:ext cx="2468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匹配当前复杂度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640080" y="868680"/>
            <a:ext cx="1097280" cy="25400"/>
          </a:xfrm>
          <a:prstGeom prst="rect">
            <a:avLst/>
          </a:prstGeom>
          <a:solidFill>
            <a:srgbClr val="EB6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2130" y="318770"/>
            <a:ext cx="10058400" cy="5219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2800"/>
              <a:t>总结与</a:t>
            </a:r>
            <a:r>
              <a:rPr lang="zh-CN" sz="2800"/>
              <a:t>开发</a:t>
            </a:r>
            <a:r>
              <a:rPr sz="2800"/>
              <a:t>路线图</a:t>
            </a:r>
            <a:endParaRPr sz="2800"/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4846320" cy="34747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56816"/>
            <a:ext cx="448056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✓  </a:t>
            </a:r>
            <a:r>
              <a:rPr lang="zh-CN"/>
              <a:t>多</a:t>
            </a:r>
            <a:r>
              <a:t>种文档切分器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22576"/>
            <a:ext cx="4846320" cy="34747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59152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✓  向量+关键词混合检索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24912"/>
            <a:ext cx="4846320" cy="34747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61488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✓  RRF 融合 + LLM 重排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127248"/>
            <a:ext cx="4846320" cy="34747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163824"/>
            <a:ext cx="448056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✓  意图分类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29584"/>
            <a:ext cx="4846320" cy="34747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566160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✓  策略分离 (省 60% token)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931920"/>
            <a:ext cx="4846320" cy="34747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968496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✓  ReAct Agent + Hook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334256"/>
            <a:ext cx="4846320" cy="34747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370832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✓  FAQ 四级匹配 + 闭环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736592"/>
            <a:ext cx="4846320" cy="34747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773168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✓  SSE 流式 + 多轮对话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138928"/>
            <a:ext cx="4846320" cy="34747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175504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✓  三层安全兜底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182880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B6750"/>
                </a:solidFill>
                <a:latin typeface="微软雅黑" panose="020B0503020204020204" charset="-122"/>
              </a:defRPr>
            </a:pPr>
            <a:r>
              <a:t>开发路线图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286000"/>
            <a:ext cx="5029200" cy="402336"/>
          </a:xfrm>
          <a:prstGeom prst="roundRect">
            <a:avLst/>
          </a:prstGeom>
          <a:solidFill>
            <a:srgbClr val="FC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2340864"/>
            <a:ext cx="4663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Phase 1: 基础搭建 · 数据模型 · 配置 (2-3天)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2761488"/>
            <a:ext cx="5029200" cy="402336"/>
          </a:xfrm>
          <a:prstGeom prst="roundRect">
            <a:avLst/>
          </a:prstGeom>
          <a:solidFill>
            <a:srgbClr val="FC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816352"/>
            <a:ext cx="4663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Phase 2: 文档解析 · 3 种切分器 (2-3天)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236976"/>
            <a:ext cx="5029200" cy="402336"/>
          </a:xfrm>
          <a:prstGeom prst="roundRect">
            <a:avLst/>
          </a:prstGeom>
          <a:solidFill>
            <a:srgbClr val="FC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291840"/>
            <a:ext cx="4663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Phase 3: 混合检索 · RRF · searchKnowledge (2天)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3712464"/>
            <a:ext cx="5029200" cy="402336"/>
          </a:xfrm>
          <a:prstGeom prst="roundRect">
            <a:avLst/>
          </a:prstGeom>
          <a:solidFill>
            <a:srgbClr val="FC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767328"/>
            <a:ext cx="4663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Phase 4: Agent 配置 · SSE 流式 (2天)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4187952"/>
            <a:ext cx="5029200" cy="402336"/>
          </a:xfrm>
          <a:prstGeom prst="roundRect">
            <a:avLst/>
          </a:prstGeom>
          <a:solidFill>
            <a:srgbClr val="FC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4242816"/>
            <a:ext cx="4663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Phase 5: 意图路由 · Hook · 3 策略 (1-2天)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4663440"/>
            <a:ext cx="5029200" cy="402336"/>
          </a:xfrm>
          <a:prstGeom prst="roundRect">
            <a:avLst/>
          </a:prstGeom>
          <a:solidFill>
            <a:srgbClr val="FC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718303"/>
            <a:ext cx="4663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Phase 6: FAQ 系统 · 质量看板 (2-3天)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5138928"/>
            <a:ext cx="5029200" cy="402336"/>
          </a:xfrm>
          <a:prstGeom prst="roundRect">
            <a:avLst/>
          </a:prstGeom>
          <a:solidFill>
            <a:srgbClr val="FC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5193792"/>
            <a:ext cx="4663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Phase 7: Vue 3 前端 · 测试 (2-3天)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B6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EB6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B6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828800"/>
            <a:ext cx="9144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800" b="1">
                <a:solidFill>
                  <a:srgbClr val="FFFFFF"/>
                </a:solidFill>
                <a:latin typeface="Arial" panose="020B0604020202020204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83464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谢谢  ·  Q &amp; A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3566160"/>
            <a:ext cx="1371600" cy="25400"/>
          </a:xfrm>
          <a:prstGeom prst="rect">
            <a:avLst/>
          </a:prstGeom>
          <a:solidFill>
            <a:srgbClr val="EB6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4105" y="4146550"/>
            <a:ext cx="7315200" cy="460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公司制度问答与流程指引助手</a:t>
            </a:r>
            <a:br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99.3,&quot;left&quot;:49,&quot;top&quot;:164.1,&quot;width&quot;:368.6}"/>
</p:tagLst>
</file>

<file path=ppt/tags/tag2.xml><?xml version="1.0" encoding="utf-8"?>
<p:tagLst xmlns:p="http://schemas.openxmlformats.org/presentationml/2006/main">
  <p:tag name="KSO_WM_DIAGRAM_VIRTUALLY_FRAME" val="{&quot;height&quot;:299.3,&quot;left&quot;:49,&quot;top&quot;:164.1,&quot;width&quot;:368.6}"/>
</p:tagLst>
</file>

<file path=ppt/tags/tag3.xml><?xml version="1.0" encoding="utf-8"?>
<p:tagLst xmlns:p="http://schemas.openxmlformats.org/presentationml/2006/main">
  <p:tag name="KSO_WM_DIAGRAM_VIRTUALLY_FRAME" val="{&quot;height&quot;:299.3,&quot;left&quot;:49,&quot;top&quot;:164.1,&quot;width&quot;:368.6}"/>
</p:tagLst>
</file>

<file path=ppt/tags/tag4.xml><?xml version="1.0" encoding="utf-8"?>
<p:tagLst xmlns:p="http://schemas.openxmlformats.org/presentationml/2006/main">
  <p:tag name="KSO_WM_DIAGRAM_VIRTUALLY_FRAME" val="{&quot;height&quot;:299.3,&quot;left&quot;:49,&quot;top&quot;:164.1,&quot;width&quot;:368.6}"/>
</p:tagLst>
</file>

<file path=ppt/tags/tag5.xml><?xml version="1.0" encoding="utf-8"?>
<p:tagLst xmlns:p="http://schemas.openxmlformats.org/presentationml/2006/main">
  <p:tag name="KSO_WM_DIAGRAM_VIRTUALLY_FRAME" val="{&quot;height&quot;:299.3,&quot;left&quot;:49,&quot;top&quot;:164.1,&quot;width&quot;:368.6}"/>
</p:tagLst>
</file>

<file path=ppt/tags/tag6.xml><?xml version="1.0" encoding="utf-8"?>
<p:tagLst xmlns:p="http://schemas.openxmlformats.org/presentationml/2006/main">
  <p:tag name="KSO_WM_DIAGRAM_VIRTUALLY_FRAME" val="{&quot;height&quot;:299.3,&quot;left&quot;:49,&quot;top&quot;:164.1,&quot;width&quot;:368.6}"/>
</p:tagLst>
</file>

<file path=ppt/tags/tag7.xml><?xml version="1.0" encoding="utf-8"?>
<p:tagLst xmlns:p="http://schemas.openxmlformats.org/presentationml/2006/main">
  <p:tag name="KSO_WM_DIAGRAM_VIRTUALLY_FRAME" val="{&quot;height&quot;:299.3,&quot;left&quot;:49,&quot;top&quot;:164.1,&quot;width&quot;:368.6}"/>
</p:tagLst>
</file>

<file path=ppt/tags/tag8.xml><?xml version="1.0" encoding="utf-8"?>
<p:tagLst xmlns:p="http://schemas.openxmlformats.org/presentationml/2006/main">
  <p:tag name="KSO_WM_DIAGRAM_VIRTUALLY_FRAME" val="{&quot;height&quot;:299.3,&quot;left&quot;:49,&quot;top&quot;:164.1,&quot;width&quot;:368.6}"/>
</p:tagLst>
</file>

<file path=ppt/tags/tag9.xml><?xml version="1.0" encoding="utf-8"?>
<p:tagLst xmlns:p="http://schemas.openxmlformats.org/presentationml/2006/main">
  <p:tag name="KSO_WM_DIAGRAM_VIRTUALLY_FRAME" val="{&quot;height&quot;:299.3,&quot;left&quot;:49,&quot;top&quot;:164.1,&quot;width&quot;:368.6}"/>
</p:tagLst>
</file>

<file path=ppt/tags/tag10.xml><?xml version="1.0" encoding="utf-8"?>
<p:tagLst xmlns:p="http://schemas.openxmlformats.org/presentationml/2006/main">
  <p:tag name="KSO_WM_DIAGRAM_VIRTUALLY_FRAME" val="{&quot;height&quot;:299.3,&quot;left&quot;:49,&quot;top&quot;:164.1,&quot;width&quot;:368.6}"/>
</p:tagLst>
</file>

<file path=ppt/tags/tag11.xml><?xml version="1.0" encoding="utf-8"?>
<p:tagLst xmlns:p="http://schemas.openxmlformats.org/presentationml/2006/main">
  <p:tag name="KSO_WM_DIAGRAM_VIRTUALLY_FRAME" val="{&quot;height&quot;:299.3,&quot;left&quot;:49,&quot;top&quot;:164.1,&quot;width&quot;:368.6}"/>
</p:tagLst>
</file>

<file path=ppt/tags/tag12.xml><?xml version="1.0" encoding="utf-8"?>
<p:tagLst xmlns:p="http://schemas.openxmlformats.org/presentationml/2006/main">
  <p:tag name="KSO_WM_DIAGRAM_VIRTUALLY_FRAME" val="{&quot;height&quot;:299.3,&quot;left&quot;:49,&quot;top&quot;:164.1,&quot;width&quot;:368.6}"/>
</p:tagLst>
</file>

<file path=ppt/tags/tag13.xml><?xml version="1.0" encoding="utf-8"?>
<p:tagLst xmlns:p="http://schemas.openxmlformats.org/presentationml/2006/main">
  <p:tag name="KSO_WM_DIAGRAM_VIRTUALLY_FRAME" val="{&quot;height&quot;:299.3,&quot;left&quot;:49,&quot;top&quot;:164.1,&quot;width&quot;:368.6}"/>
</p:tagLst>
</file>

<file path=ppt/tags/tag14.xml><?xml version="1.0" encoding="utf-8"?>
<p:tagLst xmlns:p="http://schemas.openxmlformats.org/presentationml/2006/main">
  <p:tag name="KSO_WM_DIAGRAM_VIRTUALLY_FRAME" val="{&quot;height&quot;:299.3,&quot;left&quot;:49,&quot;top&quot;:164.1,&quot;width&quot;:368.6}"/>
</p:tagLst>
</file>

<file path=ppt/tags/tag15.xml><?xml version="1.0" encoding="utf-8"?>
<p:tagLst xmlns:p="http://schemas.openxmlformats.org/presentationml/2006/main">
  <p:tag name="KSO_WM_DIAGRAM_VIRTUALLY_FRAME" val="{&quot;height&quot;:299.3,&quot;left&quot;:49,&quot;top&quot;:164.1,&quot;width&quot;:368.6}"/>
</p:tagLst>
</file>

<file path=ppt/tags/tag16.xml><?xml version="1.0" encoding="utf-8"?>
<p:tagLst xmlns:p="http://schemas.openxmlformats.org/presentationml/2006/main">
  <p:tag name="KSO_WM_DIAGRAM_VIRTUALLY_FRAME" val="{&quot;height&quot;:299.3,&quot;left&quot;:49,&quot;top&quot;:164.1,&quot;width&quot;:368.6}"/>
</p:tagLst>
</file>

<file path=ppt/tags/tag17.xml><?xml version="1.0" encoding="utf-8"?>
<p:tagLst xmlns:p="http://schemas.openxmlformats.org/presentationml/2006/main">
  <p:tag name="KSO_WM_DIAGRAM_VIRTUALLY_FRAME" val="{&quot;height&quot;:299.3,&quot;left&quot;:49,&quot;top&quot;:164.1,&quot;width&quot;:368.6}"/>
</p:tagLst>
</file>

<file path=ppt/tags/tag18.xml><?xml version="1.0" encoding="utf-8"?>
<p:tagLst xmlns:p="http://schemas.openxmlformats.org/presentationml/2006/main">
  <p:tag name="KSO_WM_DIAGRAM_VIRTUALLY_FRAME" val="{&quot;height&quot;:299.3,&quot;left&quot;:49,&quot;top&quot;:164.1,&quot;width&quot;:368.6}"/>
</p:tagLst>
</file>

<file path=ppt/tags/tag19.xml><?xml version="1.0" encoding="utf-8"?>
<p:tagLst xmlns:p="http://schemas.openxmlformats.org/presentationml/2006/main">
  <p:tag name="KSO_WM_DIAGRAM_VIRTUALLY_FRAME" val="{&quot;height&quot;:299.3,&quot;left&quot;:49,&quot;top&quot;:164.1,&quot;width&quot;:368.6}"/>
</p:tagLst>
</file>

<file path=ppt/tags/tag20.xml><?xml version="1.0" encoding="utf-8"?>
<p:tagLst xmlns:p="http://schemas.openxmlformats.org/presentationml/2006/main">
  <p:tag name="KSO_WM_DIAGRAM_VIRTUALLY_FRAME" val="{&quot;height&quot;:299.3,&quot;left&quot;:49,&quot;top&quot;:164.1,&quot;width&quot;:368.6}"/>
</p:tagLst>
</file>

<file path=ppt/tags/tag21.xml><?xml version="1.0" encoding="utf-8"?>
<p:tagLst xmlns:p="http://schemas.openxmlformats.org/presentationml/2006/main">
  <p:tag name="KSO_WM_DIAGRAM_VIRTUALLY_FRAME" val="{&quot;height&quot;:93.6,&quot;left&quot;:50.4,&quot;top&quot;:374.4,&quot;width&quot;:799.2}"/>
</p:tagLst>
</file>

<file path=ppt/tags/tag22.xml><?xml version="1.0" encoding="utf-8"?>
<p:tagLst xmlns:p="http://schemas.openxmlformats.org/presentationml/2006/main">
  <p:tag name="KSO_WM_DIAGRAM_VIRTUALLY_FRAME" val="{&quot;height&quot;:93.6,&quot;left&quot;:50.4,&quot;top&quot;:374.4,&quot;width&quot;:799.2}"/>
</p:tagLst>
</file>

<file path=ppt/tags/tag23.xml><?xml version="1.0" encoding="utf-8"?>
<p:tagLst xmlns:p="http://schemas.openxmlformats.org/presentationml/2006/main">
  <p:tag name="KSO_WM_DIAGRAM_VIRTUALLY_FRAME" val="{&quot;height&quot;:93.6,&quot;left&quot;:50.4,&quot;top&quot;:374.4,&quot;width&quot;:799.2}"/>
</p:tagLst>
</file>

<file path=ppt/tags/tag24.xml><?xml version="1.0" encoding="utf-8"?>
<p:tagLst xmlns:p="http://schemas.openxmlformats.org/presentationml/2006/main">
  <p:tag name="KSO_WM_DIAGRAM_VIRTUALLY_FRAME" val="{&quot;height&quot;:93.6,&quot;left&quot;:50.4,&quot;top&quot;:374.4,&quot;width&quot;:799.2}"/>
</p:tagLst>
</file>

<file path=ppt/tags/tag25.xml><?xml version="1.0" encoding="utf-8"?>
<p:tagLst xmlns:p="http://schemas.openxmlformats.org/presentationml/2006/main">
  <p:tag name="KSO_WM_DIAGRAM_VIRTUALLY_FRAME" val="{&quot;height&quot;:93.6,&quot;left&quot;:50.4,&quot;top&quot;:374.4,&quot;width&quot;:799.2}"/>
</p:tagLst>
</file>

<file path=ppt/tags/tag26.xml><?xml version="1.0" encoding="utf-8"?>
<p:tagLst xmlns:p="http://schemas.openxmlformats.org/presentationml/2006/main">
  <p:tag name="KSO_WM_DIAGRAM_VIRTUALLY_FRAME" val="{&quot;height&quot;:93.6,&quot;left&quot;:50.4,&quot;top&quot;:374.4,&quot;width&quot;:799.2}"/>
</p:tagLst>
</file>

<file path=ppt/tags/tag27.xml><?xml version="1.0" encoding="utf-8"?>
<p:tagLst xmlns:p="http://schemas.openxmlformats.org/presentationml/2006/main">
  <p:tag name="KSO_WM_DIAGRAM_VIRTUALLY_FRAME" val="{&quot;height&quot;:93.6,&quot;left&quot;:50.4,&quot;top&quot;:374.4,&quot;width&quot;:799.2}"/>
</p:tagLst>
</file>

<file path=ppt/tags/tag28.xml><?xml version="1.0" encoding="utf-8"?>
<p:tagLst xmlns:p="http://schemas.openxmlformats.org/presentationml/2006/main">
  <p:tag name="KSO_WM_DIAGRAM_VIRTUALLY_FRAME" val="{&quot;height&quot;:93.6,&quot;left&quot;:50.4,&quot;top&quot;:374.4,&quot;width&quot;:799.2}"/>
</p:tagLst>
</file>

<file path=ppt/tags/tag29.xml><?xml version="1.0" encoding="utf-8"?>
<p:tagLst xmlns:p="http://schemas.openxmlformats.org/presentationml/2006/main">
  <p:tag name="KSO_WM_DIAGRAM_VIRTUALLY_FRAME" val="{&quot;height&quot;:93.6,&quot;left&quot;:50.4,&quot;top&quot;:374.4,&quot;width&quot;:799.2}"/>
</p:tagLst>
</file>

<file path=ppt/tags/tag30.xml><?xml version="1.0" encoding="utf-8"?>
<p:tagLst xmlns:p="http://schemas.openxmlformats.org/presentationml/2006/main">
  <p:tag name="KSO_WM_DIAGRAM_VIRTUALLY_FRAME" val="{&quot;height&quot;:129.59999999999997,&quot;left&quot;:50.4,&quot;top&quot;:295.1999212598425,&quot;width&quot;:799.2}"/>
</p:tagLst>
</file>

<file path=ppt/tags/tag31.xml><?xml version="1.0" encoding="utf-8"?>
<p:tagLst xmlns:p="http://schemas.openxmlformats.org/presentationml/2006/main">
  <p:tag name="KSO_WM_DIAGRAM_VIRTUALLY_FRAME" val="{&quot;height&quot;:129.59999999999997,&quot;left&quot;:50.4,&quot;top&quot;:295.1999212598425,&quot;width&quot;:799.2}"/>
</p:tagLst>
</file>

<file path=ppt/tags/tag32.xml><?xml version="1.0" encoding="utf-8"?>
<p:tagLst xmlns:p="http://schemas.openxmlformats.org/presentationml/2006/main">
  <p:tag name="KSO_WM_DIAGRAM_VIRTUALLY_FRAME" val="{&quot;height&quot;:129.59999999999997,&quot;left&quot;:50.4,&quot;top&quot;:295.1999212598425,&quot;width&quot;:799.2}"/>
</p:tagLst>
</file>

<file path=ppt/tags/tag33.xml><?xml version="1.0" encoding="utf-8"?>
<p:tagLst xmlns:p="http://schemas.openxmlformats.org/presentationml/2006/main">
  <p:tag name="KSO_WM_DIAGRAM_VIRTUALLY_FRAME" val="{&quot;height&quot;:129.59999999999997,&quot;left&quot;:50.4,&quot;top&quot;:295.1999212598425,&quot;width&quot;:799.2}"/>
</p:tagLst>
</file>

<file path=ppt/tags/tag34.xml><?xml version="1.0" encoding="utf-8"?>
<p:tagLst xmlns:p="http://schemas.openxmlformats.org/presentationml/2006/main">
  <p:tag name="KSO_WM_DIAGRAM_VIRTUALLY_FRAME" val="{&quot;height&quot;:129.59999999999997,&quot;left&quot;:50.4,&quot;top&quot;:295.1999212598425,&quot;width&quot;:799.2}"/>
</p:tagLst>
</file>

<file path=ppt/tags/tag35.xml><?xml version="1.0" encoding="utf-8"?>
<p:tagLst xmlns:p="http://schemas.openxmlformats.org/presentationml/2006/main">
  <p:tag name="KSO_WM_DIAGRAM_VIRTUALLY_FRAME" val="{&quot;height&quot;:129.59999999999997,&quot;left&quot;:50.4,&quot;top&quot;:295.1999212598425,&quot;width&quot;:799.2}"/>
</p:tagLst>
</file>

<file path=ppt/tags/tag36.xml><?xml version="1.0" encoding="utf-8"?>
<p:tagLst xmlns:p="http://schemas.openxmlformats.org/presentationml/2006/main">
  <p:tag name="KSO_WM_DIAGRAM_VIRTUALLY_FRAME" val="{&quot;height&quot;:129.59999999999997,&quot;left&quot;:50.4,&quot;top&quot;:295.1999212598425,&quot;width&quot;:799.2}"/>
</p:tagLst>
</file>

<file path=ppt/tags/tag37.xml><?xml version="1.0" encoding="utf-8"?>
<p:tagLst xmlns:p="http://schemas.openxmlformats.org/presentationml/2006/main">
  <p:tag name="KSO_WM_DIAGRAM_VIRTUALLY_FRAME" val="{&quot;height&quot;:129.59999999999997,&quot;left&quot;:50.4,&quot;top&quot;:295.1999212598425,&quot;width&quot;:799.2}"/>
</p:tagLst>
</file>

<file path=ppt/tags/tag38.xml><?xml version="1.0" encoding="utf-8"?>
<p:tagLst xmlns:p="http://schemas.openxmlformats.org/presentationml/2006/main">
  <p:tag name="KSO_WM_DIAGRAM_VIRTUALLY_FRAME" val="{&quot;height&quot;:129.59999999999997,&quot;left&quot;:50.4,&quot;top&quot;:295.1999212598425,&quot;width&quot;:799.2}"/>
</p:tagLst>
</file>

<file path=ppt/tags/tag39.xml><?xml version="1.0" encoding="utf-8"?>
<p:tagLst xmlns:p="http://schemas.openxmlformats.org/presentationml/2006/main">
  <p:tag name="KSO_WM_DIAGRAM_VIRTUALLY_FRAME" val="{&quot;height&quot;:233.1,&quot;left&quot;:50.4,&quot;top&quot;:126.9,&quot;width&quot;:799.2}"/>
</p:tagLst>
</file>

<file path=ppt/tags/tag40.xml><?xml version="1.0" encoding="utf-8"?>
<p:tagLst xmlns:p="http://schemas.openxmlformats.org/presentationml/2006/main">
  <p:tag name="KSO_WM_DIAGRAM_VIRTUALLY_FRAME" val="{&quot;height&quot;:233.1,&quot;left&quot;:50.4,&quot;top&quot;:126.9,&quot;width&quot;:799.2}"/>
</p:tagLst>
</file>

<file path=ppt/tags/tag41.xml><?xml version="1.0" encoding="utf-8"?>
<p:tagLst xmlns:p="http://schemas.openxmlformats.org/presentationml/2006/main">
  <p:tag name="KSO_WM_DIAGRAM_VIRTUALLY_FRAME" val="{&quot;height&quot;:233.1,&quot;left&quot;:50.4,&quot;top&quot;:126.9,&quot;width&quot;:799.2}"/>
</p:tagLst>
</file>

<file path=ppt/tags/tag42.xml><?xml version="1.0" encoding="utf-8"?>
<p:tagLst xmlns:p="http://schemas.openxmlformats.org/presentationml/2006/main">
  <p:tag name="KSO_WM_DIAGRAM_VIRTUALLY_FRAME" val="{&quot;height&quot;:233.1,&quot;left&quot;:50.4,&quot;top&quot;:126.9,&quot;width&quot;:799.2}"/>
</p:tagLst>
</file>

<file path=ppt/tags/tag43.xml><?xml version="1.0" encoding="utf-8"?>
<p:tagLst xmlns:p="http://schemas.openxmlformats.org/presentationml/2006/main">
  <p:tag name="KSO_WM_DIAGRAM_VIRTUALLY_FRAME" val="{&quot;height&quot;:233.1,&quot;left&quot;:50.4,&quot;top&quot;:126.9,&quot;width&quot;:799.2}"/>
</p:tagLst>
</file>

<file path=ppt/tags/tag44.xml><?xml version="1.0" encoding="utf-8"?>
<p:tagLst xmlns:p="http://schemas.openxmlformats.org/presentationml/2006/main">
  <p:tag name="KSO_WM_DIAGRAM_VIRTUALLY_FRAME" val="{&quot;height&quot;:233.1,&quot;left&quot;:50.4,&quot;top&quot;:126.9,&quot;width&quot;:799.2}"/>
</p:tagLst>
</file>

<file path=ppt/tags/tag45.xml><?xml version="1.0" encoding="utf-8"?>
<p:tagLst xmlns:p="http://schemas.openxmlformats.org/presentationml/2006/main">
  <p:tag name="KSO_WM_DIAGRAM_VIRTUALLY_FRAME" val="{&quot;height&quot;:233.1,&quot;left&quot;:50.4,&quot;top&quot;:126.9,&quot;width&quot;:799.2}"/>
</p:tagLst>
</file>

<file path=ppt/tags/tag46.xml><?xml version="1.0" encoding="utf-8"?>
<p:tagLst xmlns:p="http://schemas.openxmlformats.org/presentationml/2006/main">
  <p:tag name="KSO_WM_DIAGRAM_VIRTUALLY_FRAME" val="{&quot;height&quot;:233.1,&quot;left&quot;:50.4,&quot;top&quot;:126.9,&quot;width&quot;:799.2}"/>
</p:tagLst>
</file>

<file path=ppt/tags/tag47.xml><?xml version="1.0" encoding="utf-8"?>
<p:tagLst xmlns:p="http://schemas.openxmlformats.org/presentationml/2006/main">
  <p:tag name="KSO_WM_DIAGRAM_VIRTUALLY_FRAME" val="{&quot;height&quot;:233.1,&quot;left&quot;:50.4,&quot;top&quot;:126.9,&quot;width&quot;:799.2}"/>
</p:tagLst>
</file>

<file path=ppt/tags/tag48.xml><?xml version="1.0" encoding="utf-8"?>
<p:tagLst xmlns:p="http://schemas.openxmlformats.org/presentationml/2006/main">
  <p:tag name="KSO_WM_DIAGRAM_VIRTUALLY_FRAME" val="{&quot;height&quot;:233.1,&quot;left&quot;:50.4,&quot;top&quot;:126.9,&quot;width&quot;:799.2}"/>
</p:tagLst>
</file>

<file path=ppt/tags/tag49.xml><?xml version="1.0" encoding="utf-8"?>
<p:tagLst xmlns:p="http://schemas.openxmlformats.org/presentationml/2006/main">
  <p:tag name="KSO_WM_DIAGRAM_VIRTUALLY_FRAME" val="{&quot;height&quot;:233.1,&quot;left&quot;:50.4,&quot;top&quot;:126.9,&quot;width&quot;:799.2}"/>
</p:tagLst>
</file>

<file path=ppt/tags/tag50.xml><?xml version="1.0" encoding="utf-8"?>
<p:tagLst xmlns:p="http://schemas.openxmlformats.org/presentationml/2006/main">
  <p:tag name="KSO_WM_DIAGRAM_VIRTUALLY_FRAME" val="{&quot;height&quot;:233.1,&quot;left&quot;:50.4,&quot;top&quot;:126.9,&quot;width&quot;:799.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3091</Words>
  <Application>WPS 演示</Application>
  <PresentationFormat>On-screen Show (4:3)</PresentationFormat>
  <Paragraphs>589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SevY</cp:lastModifiedBy>
  <cp:revision>10</cp:revision>
  <dcterms:created xsi:type="dcterms:W3CDTF">2013-01-27T09:14:00Z</dcterms:created>
  <dcterms:modified xsi:type="dcterms:W3CDTF">2026-06-09T08:37:23Z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0D7B936DCC47402BAF428D2E69C7D96A_12</vt:lpwstr>
  </property>
  <property fmtid="{D5CDD505-2E9C-101B-9397-08002B2CF9AE}" pid="3" name="KSOProductBuildVer">
    <vt:lpwstr>2052-12.1.0.26895</vt:lpwstr>
  </property>
</Properties>
</file>